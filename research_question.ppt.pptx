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9"/>
  </p:notesMasterIdLst>
  <p:handoutMasterIdLst>
    <p:handoutMasterId r:id="rId10"/>
  </p:handoutMasterIdLst>
  <p:sldIdLst>
    <p:sldId id="289" r:id="rId5"/>
    <p:sldId id="340" r:id="rId6"/>
    <p:sldId id="329" r:id="rId7"/>
    <p:sldId id="336"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B1EB13-4B4A-3A65-7705-B39B10420BC6}" v="11" dt="2025-11-07T13:21:13.889"/>
    <p1510:client id="{94404E7A-4EB2-D0DE-A758-3B2FEF7E6025}" v="1178" dt="2025-11-07T14:31:40.7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5" Type="http://schemas.microsoft.com/office/2015/10/relationships/revisionInfo" Target="revisionInfo.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30/11/2025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30/11/2025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2</a:t>
            </a:fld>
            <a:endParaRPr lang="en-GB"/>
          </a:p>
        </p:txBody>
      </p:sp>
    </p:spTree>
    <p:extLst>
      <p:ext uri="{BB962C8B-B14F-4D97-AF65-F5344CB8AC3E}">
        <p14:creationId xmlns:p14="http://schemas.microsoft.com/office/powerpoint/2010/main" val="39567185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Before specifying your Research Question you must define the type of data you are analysing.  Are the variables you select interval data (measurement data you can divide, multiple, etc),  OR are they ordinal (there is a definite order but the intervals between each variable are not necessarily equal, or the terms might be subjective like in a </a:t>
            </a:r>
            <a:r>
              <a:rPr lang="en-GB" err="1"/>
              <a:t>likert</a:t>
            </a:r>
            <a:r>
              <a:rPr lang="en-GB"/>
              <a:t> scale); OR are they just categorical/nominal (Items such as film names, cities, etc., that you can count numbers of occurrences?   You also need to understand whether the variable is either dependent or independent and this will vary according to the context. Independent variables may cause an effect, whereas the dependent variable might be effected by the independent variable.  Check the lecture notes on the RQ for more information and examples.  </a:t>
            </a:r>
          </a:p>
          <a:p>
            <a:endParaRPr lang="en-GB"/>
          </a:p>
          <a:p>
            <a:r>
              <a:rPr lang="en-GB"/>
              <a:t>You will get only one opportunity to present your Research Question ahead of the submission date.  Have your questions ready, and be ready to take notes on feedback.</a:t>
            </a:r>
          </a:p>
        </p:txBody>
      </p:sp>
      <p:sp>
        <p:nvSpPr>
          <p:cNvPr id="4" name="Slide Number Placeholder 3"/>
          <p:cNvSpPr>
            <a:spLocks noGrp="1"/>
          </p:cNvSpPr>
          <p:nvPr>
            <p:ph type="sldNum" sz="quarter" idx="5"/>
          </p:nvPr>
        </p:nvSpPr>
        <p:spPr/>
        <p:txBody>
          <a:bodyPr/>
          <a:lstStyle/>
          <a:p>
            <a:fld id="{30370952-48CC-46D7-9FCD-59FAD40CC025}" type="slidenum">
              <a:rPr lang="en-GB" smtClean="0"/>
              <a:pPr/>
              <a:t>3</a:t>
            </a:fld>
            <a:endParaRPr lang="en-GB"/>
          </a:p>
        </p:txBody>
      </p:sp>
    </p:spTree>
    <p:extLst>
      <p:ext uri="{BB962C8B-B14F-4D97-AF65-F5344CB8AC3E}">
        <p14:creationId xmlns:p14="http://schemas.microsoft.com/office/powerpoint/2010/main" val="29059414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4</a:t>
            </a:fld>
            <a:endParaRPr lang="en-GB"/>
          </a:p>
        </p:txBody>
      </p:sp>
    </p:spTree>
    <p:extLst>
      <p:ext uri="{BB962C8B-B14F-4D97-AF65-F5344CB8AC3E}">
        <p14:creationId xmlns:p14="http://schemas.microsoft.com/office/powerpoint/2010/main" val="266798494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dirty="0"/>
              <a:t>Research Question – </a:t>
            </a:r>
            <a:br>
              <a:rPr lang="en-US" dirty="0"/>
            </a:br>
            <a:r>
              <a:rPr lang="en-US" sz="4000" dirty="0"/>
              <a:t>Tutorial Presentation for Feedback</a:t>
            </a:r>
            <a:br>
              <a:rPr lang="en-US" sz="4000" dirty="0"/>
            </a:br>
            <a:r>
              <a:rPr lang="en-US" sz="2200" dirty="0"/>
              <a:t>Date: </a:t>
            </a:r>
            <a:br>
              <a:rPr lang="en-US" sz="8000" dirty="0"/>
            </a:br>
            <a:endParaRPr lang="en-US" dirty="0"/>
          </a:p>
        </p:txBody>
      </p:sp>
      <p:sp>
        <p:nvSpPr>
          <p:cNvPr id="3" name="Subtitle 2">
            <a:extLst>
              <a:ext uri="{FF2B5EF4-FFF2-40B4-BE49-F238E27FC236}">
                <a16:creationId xmlns:a16="http://schemas.microsoft.com/office/drawing/2014/main" id="{8275DA97-5166-7F4B-BC83-F50AC8BEDCD7}"/>
              </a:ext>
            </a:extLst>
          </p:cNvPr>
          <p:cNvSpPr>
            <a:spLocks noGrp="1"/>
          </p:cNvSpPr>
          <p:nvPr>
            <p:ph type="subTitle" idx="1"/>
          </p:nvPr>
        </p:nvSpPr>
        <p:spPr/>
        <p:txBody>
          <a:bodyPr/>
          <a:lstStyle/>
          <a:p>
            <a:r>
              <a:rPr lang="en-US" sz="2000" dirty="0"/>
              <a:t>Group Name:                                                            Name of Student Presenting:</a:t>
            </a:r>
          </a:p>
        </p:txBody>
      </p:sp>
      <p:sp>
        <p:nvSpPr>
          <p:cNvPr id="4" name="Footer Placeholder 3">
            <a:extLst>
              <a:ext uri="{FF2B5EF4-FFF2-40B4-BE49-F238E27FC236}">
                <a16:creationId xmlns:a16="http://schemas.microsoft.com/office/drawing/2014/main" id="{6E7F4D14-5620-EC41-A86C-6CC3CFD691B4}"/>
              </a:ext>
            </a:extLst>
          </p:cNvPr>
          <p:cNvSpPr>
            <a:spLocks noGrp="1"/>
          </p:cNvSpPr>
          <p:nvPr>
            <p:ph type="ftr" sz="quarter" idx="11"/>
          </p:nvPr>
        </p:nvSpPr>
        <p:spPr>
          <a:xfrm>
            <a:off x="333375" y="274320"/>
            <a:ext cx="11496675" cy="736245"/>
          </a:xfrm>
        </p:spPr>
        <p:txBody>
          <a:bodyPr/>
          <a:lstStyle/>
          <a:p>
            <a:r>
              <a:rPr lang="en-GB" dirty="0"/>
              <a:t>7COM1079-2025  Student Group No:  Group A 196                  Names of Student Attendees : </a:t>
            </a:r>
            <a:r>
              <a:rPr lang="en-GB" dirty="0" err="1"/>
              <a:t>Gourav</a:t>
            </a:r>
            <a:r>
              <a:rPr lang="en-GB" dirty="0"/>
              <a:t>, </a:t>
            </a:r>
            <a:r>
              <a:rPr lang="en-GB" dirty="0" err="1"/>
              <a:t>Shrinidhi</a:t>
            </a:r>
            <a:r>
              <a:rPr lang="en-GB" dirty="0"/>
              <a:t> G, Britto G F, Kavya B R</a:t>
            </a:r>
          </a:p>
        </p:txBody>
      </p:sp>
    </p:spTree>
    <p:extLst>
      <p:ext uri="{BB962C8B-B14F-4D97-AF65-F5344CB8AC3E}">
        <p14:creationId xmlns:p14="http://schemas.microsoft.com/office/powerpoint/2010/main" val="41485325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4884" y="1021855"/>
            <a:ext cx="9754031" cy="597396"/>
          </a:xfrm>
        </p:spPr>
        <p:txBody>
          <a:bodyPr vert="horz" lIns="0" tIns="0" rIns="0" bIns="0" rtlCol="0" anchor="t">
            <a:noAutofit/>
          </a:bodyPr>
          <a:lstStyle/>
          <a:p>
            <a:pPr>
              <a:lnSpc>
                <a:spcPct val="100000"/>
              </a:lnSpc>
              <a:spcAft>
                <a:spcPts val="0"/>
              </a:spcAft>
            </a:pPr>
            <a:r>
              <a:rPr lang="en-GB" dirty="0">
                <a:solidFill>
                  <a:srgbClr val="203232"/>
                </a:solidFill>
                <a:latin typeface="Calibri" panose="020F0502020204030204" pitchFamily="34" charset="0"/>
                <a:ea typeface="Calibri" panose="020F0502020204030204" pitchFamily="34" charset="0"/>
                <a:cs typeface="Calibri" panose="020F0502020204030204" pitchFamily="34" charset="0"/>
              </a:rPr>
              <a:t>Here is a sample of our dataset: </a:t>
            </a:r>
            <a:endParaRPr lang="en-GB" sz="1800" dirty="0">
              <a:solidFill>
                <a:srgbClr val="FF0000"/>
              </a:solidFill>
              <a:latin typeface="Calibri" panose="020F0502020204030204" pitchFamily="34" charset="0"/>
              <a:ea typeface="Calibri" panose="020F0502020204030204" pitchFamily="34" charset="0"/>
              <a:cs typeface="Calibri" panose="020F0502020204030204" pitchFamily="34" charset="0"/>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a:xfrm>
            <a:off x="964884" y="791022"/>
            <a:ext cx="7176911" cy="230832"/>
          </a:xfrm>
        </p:spPr>
        <p:txBody>
          <a:bodyPr/>
          <a:lstStyle/>
          <a:p>
            <a:r>
              <a:rPr lang="en-GB" dirty="0"/>
              <a:t>PRE 7COM1079-2025  Student Group No:  Group A 196</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8" name="Title 7">
            <a:extLst>
              <a:ext uri="{FF2B5EF4-FFF2-40B4-BE49-F238E27FC236}">
                <a16:creationId xmlns:a16="http://schemas.microsoft.com/office/drawing/2014/main" id="{6E140EA5-BB03-811F-4631-603A97631914}"/>
              </a:ext>
            </a:extLst>
          </p:cNvPr>
          <p:cNvSpPr>
            <a:spLocks noGrp="1"/>
          </p:cNvSpPr>
          <p:nvPr>
            <p:ph type="ctrTitle"/>
          </p:nvPr>
        </p:nvSpPr>
        <p:spPr>
          <a:xfrm>
            <a:off x="964884" y="1619251"/>
            <a:ext cx="10505221" cy="3781424"/>
          </a:xfrm>
        </p:spPr>
        <p:txBody>
          <a:bodyPr>
            <a:normAutofit/>
          </a:bodyPr>
          <a:lstStyle/>
          <a:p>
            <a:pPr marL="457200" indent="-457200">
              <a:lnSpc>
                <a:spcPct val="100000"/>
              </a:lnSpc>
              <a:spcBef>
                <a:spcPts val="0"/>
              </a:spcBef>
              <a:spcAft>
                <a:spcPts val="992"/>
              </a:spcAft>
              <a:buFont typeface="+mj-lt"/>
              <a:buAutoNum type="arabicPeriod"/>
            </a:pPr>
            <a:r>
              <a:rPr lang="en-GB" sz="2400" b="0" dirty="0">
                <a:latin typeface="Calibri" panose="020F0502020204030204" pitchFamily="34" charset="0"/>
                <a:ea typeface="Calibri" panose="020F0502020204030204" pitchFamily="34" charset="0"/>
                <a:cs typeface="Calibri" panose="020F0502020204030204" pitchFamily="34" charset="0"/>
              </a:rPr>
              <a:t>In our research question we will use the Demographic and  Mean Scale Score columns.</a:t>
            </a:r>
            <a:endParaRPr lang="en-US" sz="2400" b="0" dirty="0">
              <a:latin typeface="Calibri" panose="020F0502020204030204" pitchFamily="34" charset="0"/>
              <a:ea typeface="Calibri" panose="020F0502020204030204" pitchFamily="34" charset="0"/>
              <a:cs typeface="Calibri" panose="020F0502020204030204" pitchFamily="34" charset="0"/>
            </a:endParaRPr>
          </a:p>
          <a:p>
            <a:pPr marL="457200" indent="-457200">
              <a:lnSpc>
                <a:spcPct val="100000"/>
              </a:lnSpc>
              <a:spcBef>
                <a:spcPts val="0"/>
              </a:spcBef>
              <a:spcAft>
                <a:spcPts val="992"/>
              </a:spcAft>
              <a:buFont typeface="+mj-lt"/>
              <a:buAutoNum type="arabicPeriod"/>
            </a:pPr>
            <a:r>
              <a:rPr lang="en-GB" sz="2400" b="0" dirty="0">
                <a:latin typeface="Calibri" panose="020F0502020204030204" pitchFamily="34" charset="0"/>
                <a:ea typeface="Calibri" panose="020F0502020204030204" pitchFamily="34" charset="0"/>
                <a:cs typeface="Calibri" panose="020F0502020204030204" pitchFamily="34" charset="0"/>
              </a:rPr>
              <a:t>Sample Dataset </a:t>
            </a:r>
            <a:br>
              <a:rPr lang="en-GB" sz="2400" b="0" dirty="0">
                <a:latin typeface="Calibri" panose="020F0502020204030204" pitchFamily="34" charset="0"/>
                <a:ea typeface="Calibri" panose="020F0502020204030204" pitchFamily="34" charset="0"/>
                <a:cs typeface="Calibri" panose="020F0502020204030204" pitchFamily="34" charset="0"/>
              </a:rPr>
            </a:br>
            <a:br>
              <a:rPr lang="en-GB" sz="2400" b="0" dirty="0">
                <a:latin typeface="Calibri" panose="020F0502020204030204" pitchFamily="34" charset="0"/>
                <a:ea typeface="Calibri" panose="020F0502020204030204" pitchFamily="34" charset="0"/>
                <a:cs typeface="Calibri" panose="020F0502020204030204" pitchFamily="34" charset="0"/>
              </a:rPr>
            </a:br>
            <a:br>
              <a:rPr lang="en-GB" sz="2400" b="0" dirty="0">
                <a:latin typeface="Calibri" panose="020F0502020204030204" pitchFamily="34" charset="0"/>
                <a:ea typeface="Calibri" panose="020F0502020204030204" pitchFamily="34" charset="0"/>
                <a:cs typeface="Calibri" panose="020F0502020204030204" pitchFamily="34" charset="0"/>
              </a:rPr>
            </a:br>
            <a:br>
              <a:rPr lang="en-GB" sz="2400" b="0" dirty="0">
                <a:latin typeface="Calibri" panose="020F0502020204030204" pitchFamily="34" charset="0"/>
                <a:ea typeface="Calibri" panose="020F0502020204030204" pitchFamily="34" charset="0"/>
                <a:cs typeface="Calibri" panose="020F0502020204030204" pitchFamily="34" charset="0"/>
              </a:rPr>
            </a:br>
            <a:br>
              <a:rPr lang="en-GB" sz="2400" b="0" dirty="0">
                <a:latin typeface="Calibri" panose="020F0502020204030204" pitchFamily="34" charset="0"/>
                <a:ea typeface="Calibri" panose="020F0502020204030204" pitchFamily="34" charset="0"/>
                <a:cs typeface="Calibri" panose="020F0502020204030204" pitchFamily="34" charset="0"/>
              </a:rPr>
            </a:br>
            <a:endParaRPr lang="en-US" sz="2400" b="0" dirty="0">
              <a:latin typeface="Calibri" panose="020F0502020204030204" pitchFamily="34" charset="0"/>
              <a:ea typeface="Calibri" panose="020F0502020204030204" pitchFamily="34" charset="0"/>
              <a:cs typeface="Calibri" panose="020F0502020204030204" pitchFamily="34" charset="0"/>
            </a:endParaRPr>
          </a:p>
          <a:p>
            <a:pPr marL="457200" indent="-457200">
              <a:lnSpc>
                <a:spcPct val="100000"/>
              </a:lnSpc>
              <a:spcBef>
                <a:spcPts val="0"/>
              </a:spcBef>
              <a:spcAft>
                <a:spcPts val="992"/>
              </a:spcAft>
              <a:buFont typeface="+mj-lt"/>
              <a:buAutoNum type="arabicPeriod"/>
            </a:pPr>
            <a:r>
              <a:rPr lang="en-GB" sz="2400" b="0" dirty="0">
                <a:latin typeface="Calibri" panose="020F0502020204030204" pitchFamily="34" charset="0"/>
                <a:ea typeface="Calibri" panose="020F0502020204030204" pitchFamily="34" charset="0"/>
                <a:cs typeface="Calibri" panose="020F0502020204030204" pitchFamily="34" charset="0"/>
              </a:rPr>
              <a:t>Tell us how many rows your dataset has 68028 rows and 16 columns.</a:t>
            </a:r>
            <a:endParaRPr lang="en-GB" sz="2400" dirty="0">
              <a:latin typeface="Calibri" panose="020F0502020204030204" pitchFamily="34" charset="0"/>
              <a:ea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B2F9F271-4836-4ACF-85BE-52071D315F3F}"/>
              </a:ext>
            </a:extLst>
          </p:cNvPr>
          <p:cNvPicPr>
            <a:picLocks noChangeAspect="1"/>
          </p:cNvPicPr>
          <p:nvPr/>
        </p:nvPicPr>
        <p:blipFill rotWithShape="1">
          <a:blip r:embed="rId3"/>
          <a:srcRect t="5153" b="6541"/>
          <a:stretch/>
        </p:blipFill>
        <p:spPr>
          <a:xfrm>
            <a:off x="1434942" y="2571750"/>
            <a:ext cx="9322116" cy="1543050"/>
          </a:xfrm>
          <a:prstGeom prst="rect">
            <a:avLst/>
          </a:prstGeom>
        </p:spPr>
      </p:pic>
    </p:spTree>
    <p:extLst>
      <p:ext uri="{BB962C8B-B14F-4D97-AF65-F5344CB8AC3E}">
        <p14:creationId xmlns:p14="http://schemas.microsoft.com/office/powerpoint/2010/main" val="7130926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9D8228-727F-1E46-B5AD-91D158B8255E}"/>
              </a:ext>
            </a:extLst>
          </p:cNvPr>
          <p:cNvSpPr>
            <a:spLocks noGrp="1"/>
          </p:cNvSpPr>
          <p:nvPr>
            <p:ph type="subTitle" idx="1"/>
          </p:nvPr>
        </p:nvSpPr>
        <p:spPr>
          <a:xfrm>
            <a:off x="965288" y="1285092"/>
            <a:ext cx="10110240" cy="588024"/>
          </a:xfrm>
        </p:spPr>
        <p:txBody>
          <a:bodyPr vert="horz" lIns="0" tIns="0" rIns="0" bIns="0" rtlCol="0" anchor="t">
            <a:noAutofit/>
          </a:bodyPr>
          <a:lstStyle/>
          <a:p>
            <a:r>
              <a:rPr lang="en-US" dirty="0"/>
              <a:t>Dataset </a:t>
            </a:r>
            <a:r>
              <a:rPr lang="en-US" dirty="0">
                <a:solidFill>
                  <a:srgbClr val="203232"/>
                </a:solidFill>
              </a:rPr>
              <a:t>ID</a:t>
            </a:r>
            <a:r>
              <a:rPr lang="en-US" sz="1600" dirty="0">
                <a:solidFill>
                  <a:srgbClr val="FF0000"/>
                </a:solidFill>
              </a:rPr>
              <a:t>:   </a:t>
            </a:r>
            <a:r>
              <a:rPr lang="en-US" sz="2400" dirty="0">
                <a:solidFill>
                  <a:srgbClr val="FF0000"/>
                </a:solidFill>
              </a:rPr>
              <a:t>DS048 and filename:</a:t>
            </a:r>
          </a:p>
        </p:txBody>
      </p:sp>
      <p:sp>
        <p:nvSpPr>
          <p:cNvPr id="3" name="Footer Placeholder 2">
            <a:extLst>
              <a:ext uri="{FF2B5EF4-FFF2-40B4-BE49-F238E27FC236}">
                <a16:creationId xmlns:a16="http://schemas.microsoft.com/office/drawing/2014/main" id="{00EBC183-8AA5-EC44-9987-D65F5C1892A1}"/>
              </a:ext>
            </a:extLst>
          </p:cNvPr>
          <p:cNvSpPr>
            <a:spLocks noGrp="1"/>
          </p:cNvSpPr>
          <p:nvPr>
            <p:ph type="ftr" sz="quarter" idx="11"/>
          </p:nvPr>
        </p:nvSpPr>
        <p:spPr>
          <a:xfrm>
            <a:off x="965288" y="791022"/>
            <a:ext cx="9129687" cy="230832"/>
          </a:xfrm>
        </p:spPr>
        <p:txBody>
          <a:bodyPr/>
          <a:lstStyle/>
          <a:p>
            <a:r>
              <a:rPr lang="en-GB" dirty="0"/>
              <a:t>7COM1079-2025  Student Group No:A-196                    Names of Student Group Attendees: </a:t>
            </a:r>
          </a:p>
        </p:txBody>
      </p:sp>
      <p:sp>
        <p:nvSpPr>
          <p:cNvPr id="4" name="Slide Number Placeholder 3">
            <a:extLst>
              <a:ext uri="{FF2B5EF4-FFF2-40B4-BE49-F238E27FC236}">
                <a16:creationId xmlns:a16="http://schemas.microsoft.com/office/drawing/2014/main" id="{CC9D9611-42EE-7840-81EE-DD6B1A99CD7B}"/>
              </a:ext>
            </a:extLst>
          </p:cNvPr>
          <p:cNvSpPr>
            <a:spLocks noGrp="1"/>
          </p:cNvSpPr>
          <p:nvPr>
            <p:ph type="sldNum" sz="quarter" idx="12"/>
          </p:nvPr>
        </p:nvSpPr>
        <p:spPr>
          <a:xfrm>
            <a:off x="10954512" y="555565"/>
            <a:ext cx="622800" cy="230832"/>
          </a:xfrm>
        </p:spPr>
        <p:txBody>
          <a:bodyPr/>
          <a:lstStyle/>
          <a:p>
            <a:r>
              <a:rPr lang="en-US"/>
              <a:t>2</a:t>
            </a:r>
            <a:endParaRPr lang="en-GB"/>
          </a:p>
        </p:txBody>
      </p:sp>
      <p:sp>
        <p:nvSpPr>
          <p:cNvPr id="5" name="Title 4">
            <a:extLst>
              <a:ext uri="{FF2B5EF4-FFF2-40B4-BE49-F238E27FC236}">
                <a16:creationId xmlns:a16="http://schemas.microsoft.com/office/drawing/2014/main" id="{B3FA3829-F12C-214D-8FBA-7E1A740F65CA}"/>
              </a:ext>
            </a:extLst>
          </p:cNvPr>
          <p:cNvSpPr>
            <a:spLocks noGrp="1"/>
          </p:cNvSpPr>
          <p:nvPr>
            <p:ph type="ctrTitle"/>
          </p:nvPr>
        </p:nvSpPr>
        <p:spPr>
          <a:xfrm>
            <a:off x="965288" y="1698305"/>
            <a:ext cx="10974945" cy="3579548"/>
          </a:xfrm>
        </p:spPr>
        <p:txBody>
          <a:bodyPr>
            <a:noAutofit/>
          </a:bodyPr>
          <a:lstStyle/>
          <a:p>
            <a:pPr>
              <a:lnSpc>
                <a:spcPct val="100000"/>
              </a:lnSpc>
            </a:pPr>
            <a:r>
              <a:rPr lang="en-US" sz="2400" b="0" dirty="0">
                <a:latin typeface="Calibri"/>
                <a:cs typeface="Calibri"/>
              </a:rPr>
              <a:t>This dataset is interesting to us because it provides school test performance data by grade, gender, and year of New York which shows the student achievement.  </a:t>
            </a:r>
            <a:br>
              <a:rPr lang="en-US" sz="2400" b="0" dirty="0">
                <a:latin typeface="Calibri" panose="020F0502020204030204" pitchFamily="34" charset="0"/>
                <a:cs typeface="Calibri" panose="020F0502020204030204" pitchFamily="34" charset="0"/>
              </a:rPr>
            </a:br>
            <a:br>
              <a:rPr lang="en-US" sz="2400" b="0" dirty="0">
                <a:latin typeface="Calibri" panose="020F0502020204030204" pitchFamily="34" charset="0"/>
                <a:cs typeface="Calibri" panose="020F0502020204030204" pitchFamily="34" charset="0"/>
              </a:rPr>
            </a:br>
            <a:r>
              <a:rPr lang="en-US" sz="2400" b="0" i="1" dirty="0">
                <a:solidFill>
                  <a:schemeClr val="accent2">
                    <a:lumMod val="75000"/>
                  </a:schemeClr>
                </a:solidFill>
                <a:latin typeface="Calibri"/>
                <a:cs typeface="Calibri"/>
              </a:rPr>
              <a:t>From the column headings in your dataset choose ONE independent * and ONE dependent variable . </a:t>
            </a:r>
            <a:br>
              <a:rPr lang="en-US" sz="2400" b="0" dirty="0">
                <a:latin typeface="Calibri" panose="020F0502020204030204" pitchFamily="34" charset="0"/>
                <a:cs typeface="Calibri" panose="020F0502020204030204" pitchFamily="34" charset="0"/>
              </a:rPr>
            </a:br>
            <a:r>
              <a:rPr lang="en-US" sz="2400" b="0" dirty="0">
                <a:latin typeface="Calibri"/>
                <a:cs typeface="Calibri"/>
              </a:rPr>
              <a:t>Our  Independent variable is:  Demographic</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Independent variable datatype is Nominal/categorial</a:t>
            </a:r>
            <a:br>
              <a:rPr lang="en-US" sz="2400" b="0" dirty="0">
                <a:latin typeface="Calibri" panose="020F0502020204030204" pitchFamily="34" charset="0"/>
                <a:cs typeface="Calibri" panose="020F0502020204030204" pitchFamily="34" charset="0"/>
              </a:rPr>
            </a:br>
            <a:r>
              <a:rPr lang="en-US" sz="2400" b="0" dirty="0">
                <a:latin typeface="Calibri"/>
                <a:cs typeface="Calibri"/>
              </a:rPr>
              <a:t>Our Dependent variable is: Mean Scale Score</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Dependent variable datatype is  Interval/measurement data</a:t>
            </a:r>
          </a:p>
        </p:txBody>
      </p:sp>
    </p:spTree>
    <p:extLst>
      <p:ext uri="{BB962C8B-B14F-4D97-AF65-F5344CB8AC3E}">
        <p14:creationId xmlns:p14="http://schemas.microsoft.com/office/powerpoint/2010/main" val="17180049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737937" y="1147638"/>
            <a:ext cx="9980977" cy="533868"/>
          </a:xfrm>
        </p:spPr>
        <p:txBody>
          <a:bodyPr/>
          <a:lstStyle/>
          <a:p>
            <a:pPr>
              <a:lnSpc>
                <a:spcPct val="100000"/>
              </a:lnSpc>
              <a:spcAft>
                <a:spcPts val="0"/>
              </a:spcAft>
            </a:pPr>
            <a:r>
              <a:rPr lang="en-GB" dirty="0"/>
              <a:t>Our Research Question is</a:t>
            </a:r>
            <a:endParaRPr lang="en-GB" sz="1800" dirty="0">
              <a:solidFill>
                <a:srgbClr val="FF0000"/>
              </a:solidFil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a:xfrm>
            <a:off x="737937" y="819814"/>
            <a:ext cx="7176911" cy="230832"/>
          </a:xfrm>
        </p:spPr>
        <p:txBody>
          <a:bodyPr/>
          <a:lstStyle/>
          <a:p>
            <a:r>
              <a:rPr lang="en-GB" dirty="0"/>
              <a:t>PRE 7COM1079-2025  Student Group No:  Group A 196</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5" name="Title 4">
            <a:extLst>
              <a:ext uri="{FF2B5EF4-FFF2-40B4-BE49-F238E27FC236}">
                <a16:creationId xmlns:a16="http://schemas.microsoft.com/office/drawing/2014/main" id="{3440DA25-F620-152B-DE9E-776F7B74DFF0}"/>
              </a:ext>
            </a:extLst>
          </p:cNvPr>
          <p:cNvSpPr>
            <a:spLocks noGrp="1"/>
          </p:cNvSpPr>
          <p:nvPr>
            <p:ph type="ctrTitle"/>
          </p:nvPr>
        </p:nvSpPr>
        <p:spPr>
          <a:xfrm>
            <a:off x="737938" y="1893914"/>
            <a:ext cx="11085094" cy="3403841"/>
          </a:xfrm>
        </p:spPr>
        <p:txBody>
          <a:bodyPr>
            <a:noAutofit/>
          </a:bodyPr>
          <a:lstStyle/>
          <a:p>
            <a:pPr>
              <a:lnSpc>
                <a:spcPct val="100000"/>
              </a:lnSpc>
            </a:pPr>
            <a:r>
              <a:rPr lang="en-IE" sz="2400" dirty="0">
                <a:effectLst/>
                <a:latin typeface="Calibri"/>
                <a:ea typeface="Calibri" panose="020F0502020204030204" pitchFamily="34" charset="0"/>
                <a:cs typeface="Times New Roman"/>
              </a:rPr>
              <a:t>Template</a:t>
            </a:r>
            <a:r>
              <a:rPr lang="en-IE" sz="2400" baseline="30000" dirty="0">
                <a:effectLst/>
                <a:latin typeface="Calibri"/>
                <a:ea typeface="Calibri" panose="020F0502020204030204" pitchFamily="34" charset="0"/>
                <a:cs typeface="Times New Roman"/>
              </a:rPr>
              <a:t>2</a:t>
            </a:r>
            <a:r>
              <a:rPr lang="en-IE" sz="2400" dirty="0">
                <a:effectLst/>
                <a:latin typeface="Calibri"/>
                <a:ea typeface="Calibri" panose="020F0502020204030204" pitchFamily="34" charset="0"/>
                <a:cs typeface="Times New Roman"/>
              </a:rPr>
              <a:t> : </a:t>
            </a:r>
            <a:r>
              <a:rPr lang="en-IE" sz="2400" b="0" dirty="0">
                <a:effectLst/>
                <a:latin typeface="Calibri"/>
                <a:ea typeface="Calibri" panose="020F0502020204030204" pitchFamily="34" charset="0"/>
                <a:cs typeface="Times New Roman"/>
              </a:rPr>
              <a:t>Interval vs Nominal</a:t>
            </a:r>
            <a:r>
              <a:rPr lang="en-IE" sz="2400" b="0" dirty="0">
                <a:latin typeface="Calibri"/>
                <a:ea typeface="Calibri" panose="020F0502020204030204" pitchFamily="34" charset="0"/>
                <a:cs typeface="Times New Roman"/>
              </a:rPr>
              <a:t> </a:t>
            </a:r>
            <a:r>
              <a:rPr lang="en-IE" sz="2400" b="0" dirty="0">
                <a:effectLst/>
                <a:latin typeface="Calibri"/>
                <a:ea typeface="Calibri" panose="020F0502020204030204" pitchFamily="34" charset="0"/>
                <a:cs typeface="Times New Roman"/>
              </a:rPr>
              <a:t>data “is there a difference in the mean of  Mean Scale Score between Male and Female students”</a:t>
            </a: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r>
              <a:rPr lang="en-IE" sz="2400" b="0" dirty="0">
                <a:effectLst/>
                <a:latin typeface="Calibri"/>
                <a:ea typeface="Calibri" panose="020F0502020204030204" pitchFamily="34" charset="0"/>
                <a:cs typeface="Times New Roman"/>
              </a:rPr>
              <a:t>1. </a:t>
            </a:r>
            <a:r>
              <a:rPr lang="en-GB" sz="2400" b="0" dirty="0">
                <a:latin typeface="Arial"/>
                <a:cs typeface="Arial"/>
              </a:rPr>
              <a:t>Null hypothesis (H</a:t>
            </a:r>
            <a:r>
              <a:rPr lang="en-GB" sz="2400" b="0" baseline="-25000" dirty="0">
                <a:latin typeface="Arial"/>
                <a:cs typeface="Arial"/>
              </a:rPr>
              <a:t>0</a:t>
            </a:r>
            <a:r>
              <a:rPr lang="en-GB" sz="2400" b="0" dirty="0">
                <a:latin typeface="Arial"/>
                <a:cs typeface="Arial"/>
              </a:rPr>
              <a:t>): There is no difference in the mean </a:t>
            </a:r>
            <a:r>
              <a:rPr lang="en-IE" sz="2400" b="0" dirty="0">
                <a:effectLst/>
                <a:latin typeface="Calibri"/>
                <a:ea typeface="Calibri" panose="020F0502020204030204" pitchFamily="34" charset="0"/>
                <a:cs typeface="Times New Roman"/>
              </a:rPr>
              <a:t>Mean Scale Score between Male and Female students.</a:t>
            </a:r>
            <a:br>
              <a:rPr lang="en-IE" sz="2400" b="0" dirty="0">
                <a:effectLst/>
                <a:latin typeface="Calibri"/>
                <a:ea typeface="Calibri" panose="020F0502020204030204" pitchFamily="34" charset="0"/>
                <a:cs typeface="Times New Roman"/>
              </a:rPr>
            </a:br>
            <a:r>
              <a:rPr lang="en-IE" sz="2400" b="0" dirty="0">
                <a:effectLst/>
                <a:latin typeface="Calibri"/>
                <a:ea typeface="Calibri" panose="020F0502020204030204" pitchFamily="34" charset="0"/>
                <a:cs typeface="Times New Roman"/>
              </a:rPr>
              <a:t>2. </a:t>
            </a:r>
            <a:r>
              <a:rPr lang="en-GB" sz="2400" b="0" dirty="0">
                <a:latin typeface="Arial"/>
                <a:cs typeface="Arial"/>
              </a:rPr>
              <a:t>Alt hypothesis (H</a:t>
            </a:r>
            <a:r>
              <a:rPr lang="en-GB" sz="2400" b="0" baseline="-25000" dirty="0">
                <a:latin typeface="Arial"/>
                <a:cs typeface="Arial"/>
              </a:rPr>
              <a:t>1</a:t>
            </a:r>
            <a:r>
              <a:rPr lang="en-GB" sz="2400" b="0" dirty="0">
                <a:latin typeface="Arial"/>
                <a:cs typeface="Arial"/>
              </a:rPr>
              <a:t>): There is</a:t>
            </a:r>
            <a:r>
              <a:rPr lang="en-GB" sz="2400" dirty="0">
                <a:latin typeface="Arial"/>
                <a:cs typeface="Arial"/>
              </a:rPr>
              <a:t> </a:t>
            </a:r>
            <a:r>
              <a:rPr lang="en-GB" sz="2400" b="0" dirty="0">
                <a:latin typeface="Arial"/>
                <a:cs typeface="Arial"/>
              </a:rPr>
              <a:t>a</a:t>
            </a:r>
            <a:r>
              <a:rPr lang="en-GB" sz="2400" dirty="0">
                <a:latin typeface="Arial"/>
                <a:cs typeface="Arial"/>
              </a:rPr>
              <a:t> </a:t>
            </a:r>
            <a:r>
              <a:rPr lang="en-GB" sz="2400" b="0" dirty="0">
                <a:latin typeface="Arial"/>
                <a:cs typeface="Arial"/>
              </a:rPr>
              <a:t>difference in the mean </a:t>
            </a:r>
            <a:r>
              <a:rPr lang="en-IE" sz="2400" b="0" dirty="0">
                <a:effectLst/>
                <a:latin typeface="Calibri"/>
                <a:ea typeface="Calibri" panose="020F0502020204030204" pitchFamily="34" charset="0"/>
                <a:cs typeface="Times New Roman"/>
              </a:rPr>
              <a:t>Mean Scale Score between Male and Female students.</a:t>
            </a: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r>
              <a:rPr lang="en-IE" sz="2400" b="0" dirty="0">
                <a:effectLst/>
                <a:latin typeface="Calibri"/>
                <a:ea typeface="Calibri" panose="020F0502020204030204" pitchFamily="34" charset="0"/>
                <a:cs typeface="Times New Roman"/>
              </a:rPr>
              <a:t>We</a:t>
            </a:r>
            <a:br>
              <a:rPr lang="en-IE" sz="2400" b="0" dirty="0">
                <a:effectLst/>
                <a:latin typeface="Calibri"/>
                <a:ea typeface="Calibri" panose="020F0502020204030204" pitchFamily="34" charset="0"/>
                <a:cs typeface="Times New Roman"/>
              </a:rPr>
            </a:br>
            <a:br>
              <a:rPr lang="en-GB" sz="2400" dirty="0">
                <a:effectLst/>
                <a:latin typeface="Calibri" panose="020F0502020204030204" pitchFamily="34" charset="0"/>
                <a:ea typeface="Calibri" panose="020F0502020204030204" pitchFamily="34" charset="0"/>
                <a:cs typeface="Times New Roman" panose="02020603050405020304" pitchFamily="18" charset="0"/>
              </a:rPr>
            </a:br>
            <a:endParaRPr lang="en-GB" sz="2400" dirty="0">
              <a:solidFill>
                <a:srgbClr val="FF0000"/>
              </a:solidFill>
            </a:endParaRPr>
          </a:p>
        </p:txBody>
      </p:sp>
      <p:sp>
        <p:nvSpPr>
          <p:cNvPr id="7" name="TextBox 6">
            <a:extLst>
              <a:ext uri="{FF2B5EF4-FFF2-40B4-BE49-F238E27FC236}">
                <a16:creationId xmlns:a16="http://schemas.microsoft.com/office/drawing/2014/main" id="{F7FEA660-7B39-BC91-3B96-7298CCF66DE1}"/>
              </a:ext>
            </a:extLst>
          </p:cNvPr>
          <p:cNvSpPr txBox="1"/>
          <p:nvPr/>
        </p:nvSpPr>
        <p:spPr>
          <a:xfrm>
            <a:off x="623945" y="5297755"/>
            <a:ext cx="11440040" cy="1477328"/>
          </a:xfrm>
          <a:prstGeom prst="rect">
            <a:avLst/>
          </a:prstGeom>
          <a:solidFill>
            <a:schemeClr val="bg1">
              <a:lumMod val="95000"/>
            </a:schemeClr>
          </a:solidFill>
        </p:spPr>
        <p:txBody>
          <a:bodyPr wrap="square" lIns="91440" tIns="45720" rIns="91440" bIns="45720" rtlCol="0" anchor="t">
            <a:spAutoFit/>
          </a:bodyPr>
          <a:lstStyle/>
          <a:p>
            <a:r>
              <a:rPr lang="en-GB" baseline="30000" dirty="0"/>
              <a:t>1</a:t>
            </a:r>
            <a:r>
              <a:rPr lang="en-GB" b="1" dirty="0">
                <a:latin typeface="Calibri"/>
                <a:cs typeface="Calibri"/>
              </a:rPr>
              <a:t>Correlation</a:t>
            </a:r>
            <a:r>
              <a:rPr lang="en-GB" dirty="0"/>
              <a:t> (</a:t>
            </a:r>
            <a:r>
              <a:rPr lang="en-IE" sz="1800" dirty="0">
                <a:effectLst/>
                <a:latin typeface="Calibri"/>
                <a:ea typeface="Calibri" panose="020F0502020204030204" pitchFamily="34" charset="0"/>
                <a:cs typeface="Times New Roman"/>
              </a:rPr>
              <a:t>Analysis of how </a:t>
            </a:r>
            <a:r>
              <a:rPr lang="en-IE" sz="1800" dirty="0">
                <a:solidFill>
                  <a:srgbClr val="FF0000"/>
                </a:solidFill>
                <a:effectLst/>
                <a:latin typeface="Calibri"/>
                <a:ea typeface="Calibri" panose="020F0502020204030204" pitchFamily="34" charset="0"/>
                <a:cs typeface="Times New Roman"/>
              </a:rPr>
              <a:t>ordinal</a:t>
            </a:r>
            <a:r>
              <a:rPr lang="en-IE" dirty="0">
                <a:solidFill>
                  <a:srgbClr val="FF0000"/>
                </a:solidFill>
                <a:latin typeface="Calibri"/>
                <a:ea typeface="Calibri" panose="020F0502020204030204" pitchFamily="34" charset="0"/>
                <a:cs typeface="Times New Roman"/>
              </a:rPr>
              <a:t>/</a:t>
            </a:r>
            <a:r>
              <a:rPr lang="en-IE" sz="1800" dirty="0">
                <a:solidFill>
                  <a:srgbClr val="FF0000"/>
                </a:solidFill>
                <a:effectLst/>
                <a:latin typeface="Calibri"/>
                <a:ea typeface="Calibri" panose="020F0502020204030204" pitchFamily="34" charset="0"/>
                <a:cs typeface="Times New Roman"/>
              </a:rPr>
              <a:t>interval </a:t>
            </a:r>
            <a:r>
              <a:rPr lang="en-IE" sz="1800" dirty="0">
                <a:solidFill>
                  <a:srgbClr val="00B050"/>
                </a:solidFill>
                <a:effectLst/>
                <a:latin typeface="Calibri"/>
                <a:ea typeface="Calibri" panose="020F0502020204030204" pitchFamily="34" charset="0"/>
                <a:cs typeface="Times New Roman"/>
              </a:rPr>
              <a:t>dependent var</a:t>
            </a:r>
            <a:r>
              <a:rPr lang="en-IE" sz="1800" dirty="0">
                <a:effectLst/>
                <a:latin typeface="Calibri"/>
                <a:ea typeface="Calibri" panose="020F0502020204030204" pitchFamily="34" charset="0"/>
                <a:cs typeface="Times New Roman"/>
              </a:rPr>
              <a:t> </a:t>
            </a:r>
            <a:r>
              <a:rPr lang="en-IE" dirty="0">
                <a:latin typeface="Calibri"/>
                <a:ea typeface="Calibri" panose="020F0502020204030204" pitchFamily="34" charset="0"/>
                <a:cs typeface="Times New Roman"/>
              </a:rPr>
              <a:t>correlates </a:t>
            </a:r>
            <a:r>
              <a:rPr lang="en-IE" sz="1800" dirty="0">
                <a:effectLst/>
                <a:latin typeface="Calibri"/>
                <a:ea typeface="Calibri" panose="020F0502020204030204" pitchFamily="34" charset="0"/>
                <a:cs typeface="Times New Roman"/>
              </a:rPr>
              <a:t>to an </a:t>
            </a:r>
            <a:r>
              <a:rPr lang="en-IE" sz="1800" dirty="0">
                <a:solidFill>
                  <a:srgbClr val="FF0000"/>
                </a:solidFill>
                <a:effectLst/>
                <a:latin typeface="Calibri"/>
                <a:ea typeface="Calibri" panose="020F0502020204030204" pitchFamily="34" charset="0"/>
                <a:cs typeface="Times New Roman"/>
              </a:rPr>
              <a:t>ordinal/interval </a:t>
            </a:r>
            <a:r>
              <a:rPr lang="en-IE" sz="1800" dirty="0">
                <a:solidFill>
                  <a:srgbClr val="00B050"/>
                </a:solidFill>
                <a:effectLst/>
                <a:latin typeface="Calibri"/>
                <a:ea typeface="Calibri" panose="020F0502020204030204" pitchFamily="34" charset="0"/>
                <a:cs typeface="Times New Roman"/>
              </a:rPr>
              <a:t>independent variable)</a:t>
            </a:r>
            <a:endParaRPr lang="en-GB" dirty="0">
              <a:latin typeface="Calibri"/>
              <a:cs typeface="Times New Roman"/>
            </a:endParaRPr>
          </a:p>
          <a:p>
            <a:r>
              <a:rPr lang="en-IE" sz="1800" b="1" baseline="30000" dirty="0">
                <a:effectLst/>
                <a:latin typeface="Calibri" panose="020F0502020204030204" pitchFamily="34" charset="0"/>
                <a:ea typeface="Calibri" panose="020F0502020204030204" pitchFamily="34" charset="0"/>
                <a:cs typeface="Times New Roman" panose="02020603050405020304" pitchFamily="18" charset="0"/>
              </a:rPr>
              <a:t>2</a:t>
            </a:r>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means</a:t>
            </a:r>
            <a:r>
              <a:rPr lang="en-IE" sz="1800" dirty="0">
                <a:effectLst/>
                <a:latin typeface="Calibri" panose="020F0502020204030204" pitchFamily="34" charset="0"/>
                <a:ea typeface="Calibri" panose="020F0502020204030204" pitchFamily="34" charset="0"/>
                <a:cs typeface="Times New Roman" panose="02020603050405020304" pitchFamily="18" charset="0"/>
              </a:rPr>
              <a:t> (or medians): Analysis of the difference between the mean (or median) value of a characteristic shared by members of two different populations.</a:t>
            </a:r>
          </a:p>
          <a:p>
            <a:r>
              <a:rPr lang="en-IE" sz="1800" b="1" baseline="30000" dirty="0">
                <a:effectLst/>
                <a:latin typeface="Calibri" panose="020F0502020204030204" pitchFamily="34" charset="0"/>
                <a:ea typeface="Calibri" panose="020F0502020204030204" pitchFamily="34" charset="0"/>
                <a:cs typeface="Times New Roman" panose="02020603050405020304" pitchFamily="18" charset="0"/>
              </a:rPr>
              <a:t>3</a:t>
            </a:r>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proportions:</a:t>
            </a:r>
            <a:r>
              <a:rPr lang="en-IE" sz="1800" dirty="0">
                <a:effectLst/>
                <a:latin typeface="Calibri" panose="020F0502020204030204" pitchFamily="34" charset="0"/>
                <a:ea typeface="Calibri" panose="020F0502020204030204" pitchFamily="34" charset="0"/>
                <a:cs typeface="Times New Roman" panose="02020603050405020304" pitchFamily="18" charset="0"/>
              </a:rPr>
              <a:t> Analysis of the difference in proportions of a characteristic shared by members of two different populations. </a:t>
            </a:r>
            <a:endParaRPr lang="en-GB" dirty="0"/>
          </a:p>
        </p:txBody>
      </p:sp>
    </p:spTree>
    <p:extLst>
      <p:ext uri="{BB962C8B-B14F-4D97-AF65-F5344CB8AC3E}">
        <p14:creationId xmlns:p14="http://schemas.microsoft.com/office/powerpoint/2010/main" val="32494612"/>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91C521DD-2673-4EE6-BB9B-DC5C3320FFB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240</TotalTime>
  <Words>546</Words>
  <Application>Microsoft Office PowerPoint</Application>
  <PresentationFormat>Widescreen</PresentationFormat>
  <Paragraphs>26</Paragraphs>
  <Slides>4</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Herts Theme</vt:lpstr>
      <vt:lpstr>Research Question –  Tutorial Presentation for Feedback Date:  </vt:lpstr>
      <vt:lpstr>In our research question we will use the Demographic and  Mean Scale Score columns. Sample Dataset       Tell us how many rows your dataset has 68028 rows and 16 columns.</vt:lpstr>
      <vt:lpstr>This dataset is interesting to us because it provides school test performance data by grade, gender, and year of New York which shows the student achievement.    From the column headings in your dataset choose ONE independent * and ONE dependent variable .  Our  Independent variable is:  Demographic                    This  Independent variable datatype is Nominal/categorial Our Dependent variable is: Mean Scale Score                    This Dependent variable datatype is  Interval/measurement data</vt:lpstr>
      <vt:lpstr>Template2 : Interval vs Nominal data “is there a difference in the mean of  Mean Scale Score between Male and Female students”  1. Null hypothesis (H0): There is no difference in the mean Mean Scale Score between Male and Female students. 2. Alt hypothesis (H1): There is a difference in the mean Mean Scale Score between Male and Female students.  We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Gaurav Kamble [Student-PECS]</cp:lastModifiedBy>
  <cp:revision>127</cp:revision>
  <dcterms:created xsi:type="dcterms:W3CDTF">2019-10-01T08:37:56Z</dcterms:created>
  <dcterms:modified xsi:type="dcterms:W3CDTF">2025-11-30T17:17:49Z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