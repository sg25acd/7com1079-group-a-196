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handoutMasterIdLst>
    <p:handoutMasterId r:id="rId10"/>
  </p:handoutMasterIdLst>
  <p:sldIdLst>
    <p:sldId id="289" r:id="rId5"/>
    <p:sldId id="340" r:id="rId6"/>
    <p:sldId id="329" r:id="rId7"/>
    <p:sldId id="33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333375" y="274320"/>
            <a:ext cx="11496675" cy="736245"/>
          </a:xfrm>
        </p:spPr>
        <p:txBody>
          <a:bodyPr/>
          <a:lstStyle/>
          <a:p>
            <a:r>
              <a:rPr lang="en-GB" dirty="0"/>
              <a:t>7COM1079-2025  Student Group No:  Group A 196                  Names of Student Attendees : Gourav Kamble, Shrinidhi G, Britto George Fernandez, Kavya </a:t>
            </a:r>
            <a:r>
              <a:rPr lang="en-GB" dirty="0" err="1"/>
              <a:t>Belur</a:t>
            </a:r>
            <a:r>
              <a:rPr lang="en-GB" dirty="0"/>
              <a:t> Ramesh</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4884" y="1021855"/>
            <a:ext cx="9754031" cy="597396"/>
          </a:xfrm>
        </p:spPr>
        <p:txBody>
          <a:bodyPr vert="horz" lIns="0" tIns="0" rIns="0" bIns="0" rtlCol="0" anchor="t">
            <a:noAutofit/>
          </a:bodyPr>
          <a:lstStyle/>
          <a:p>
            <a:pPr>
              <a:lnSpc>
                <a:spcPct val="100000"/>
              </a:lnSpc>
              <a:spcAft>
                <a:spcPts val="0"/>
              </a:spcAft>
            </a:pPr>
            <a:r>
              <a:rPr lang="en-GB" dirty="0">
                <a:solidFill>
                  <a:srgbClr val="203232"/>
                </a:solidFill>
                <a:latin typeface="Calibri" panose="020F0502020204030204" pitchFamily="34" charset="0"/>
                <a:ea typeface="Calibri" panose="020F0502020204030204" pitchFamily="34" charset="0"/>
                <a:cs typeface="Calibri" panose="020F0502020204030204" pitchFamily="34" charset="0"/>
              </a:rPr>
              <a:t>Here is a sample of our dataset: </a:t>
            </a:r>
            <a:endParaRPr lang="en-GB" sz="1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964884" y="791022"/>
            <a:ext cx="7176911" cy="230832"/>
          </a:xfrm>
        </p:spPr>
        <p:txBody>
          <a:bodyPr/>
          <a:lstStyle/>
          <a:p>
            <a:r>
              <a:rPr lang="en-GB" dirty="0"/>
              <a:t>PRE 7COM1079-2025  Student Group No:  Group A 196</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1619251"/>
            <a:ext cx="10505221" cy="3781424"/>
          </a:xfrm>
        </p:spPr>
        <p:txBody>
          <a:bodyPr>
            <a:normAutofit/>
          </a:bodyPr>
          <a:lstStyle/>
          <a:p>
            <a:pPr marL="457200" indent="-457200">
              <a:lnSpc>
                <a:spcPct val="100000"/>
              </a:lnSpc>
              <a:spcBef>
                <a:spcPts val="0"/>
              </a:spcBef>
              <a:spcAft>
                <a:spcPts val="992"/>
              </a:spcAft>
              <a:buFont typeface="+mj-lt"/>
              <a:buAutoNum type="arabicPeriod"/>
            </a:pPr>
            <a:r>
              <a:rPr lang="en-GB" sz="2400" b="0" dirty="0">
                <a:latin typeface="Calibri" panose="020F0502020204030204" pitchFamily="34" charset="0"/>
                <a:ea typeface="Calibri" panose="020F0502020204030204" pitchFamily="34" charset="0"/>
                <a:cs typeface="Calibri" panose="020F0502020204030204" pitchFamily="34" charset="0"/>
              </a:rPr>
              <a:t>In our research question we will use the Demographic and  Mean Scale Score columns.</a:t>
            </a:r>
            <a:endParaRPr lang="en-US" sz="2400" b="0" dirty="0">
              <a:latin typeface="Calibri" panose="020F0502020204030204" pitchFamily="34" charset="0"/>
              <a:ea typeface="Calibri" panose="020F0502020204030204" pitchFamily="34" charset="0"/>
              <a:cs typeface="Calibri" panose="020F0502020204030204" pitchFamily="34" charset="0"/>
            </a:endParaRPr>
          </a:p>
          <a:p>
            <a:pPr marL="457200" indent="-457200">
              <a:lnSpc>
                <a:spcPct val="100000"/>
              </a:lnSpc>
              <a:spcBef>
                <a:spcPts val="0"/>
              </a:spcBef>
              <a:spcAft>
                <a:spcPts val="992"/>
              </a:spcAft>
              <a:buFont typeface="+mj-lt"/>
              <a:buAutoNum type="arabicPeriod"/>
            </a:pPr>
            <a:r>
              <a:rPr lang="en-GB" sz="2400" b="0" dirty="0">
                <a:latin typeface="Calibri" panose="020F0502020204030204" pitchFamily="34" charset="0"/>
                <a:ea typeface="Calibri" panose="020F0502020204030204" pitchFamily="34" charset="0"/>
                <a:cs typeface="Calibri" panose="020F0502020204030204" pitchFamily="34" charset="0"/>
              </a:rPr>
              <a:t>Sample Dataset </a:t>
            </a:r>
            <a:br>
              <a:rPr lang="en-GB" sz="2400" b="0" dirty="0">
                <a:latin typeface="Calibri" panose="020F0502020204030204" pitchFamily="34" charset="0"/>
                <a:ea typeface="Calibri" panose="020F0502020204030204" pitchFamily="34" charset="0"/>
                <a:cs typeface="Calibri" panose="020F0502020204030204" pitchFamily="34" charset="0"/>
              </a:rPr>
            </a:br>
            <a:br>
              <a:rPr lang="en-GB" sz="2400" b="0" dirty="0">
                <a:latin typeface="Calibri" panose="020F0502020204030204" pitchFamily="34" charset="0"/>
                <a:ea typeface="Calibri" panose="020F0502020204030204" pitchFamily="34" charset="0"/>
                <a:cs typeface="Calibri" panose="020F0502020204030204" pitchFamily="34" charset="0"/>
              </a:rPr>
            </a:br>
            <a:br>
              <a:rPr lang="en-GB" sz="2400" b="0" dirty="0">
                <a:latin typeface="Calibri" panose="020F0502020204030204" pitchFamily="34" charset="0"/>
                <a:ea typeface="Calibri" panose="020F0502020204030204" pitchFamily="34" charset="0"/>
                <a:cs typeface="Calibri" panose="020F0502020204030204" pitchFamily="34" charset="0"/>
              </a:rPr>
            </a:br>
            <a:br>
              <a:rPr lang="en-GB" sz="2400" b="0" dirty="0">
                <a:latin typeface="Calibri" panose="020F0502020204030204" pitchFamily="34" charset="0"/>
                <a:ea typeface="Calibri" panose="020F0502020204030204" pitchFamily="34" charset="0"/>
                <a:cs typeface="Calibri" panose="020F0502020204030204" pitchFamily="34" charset="0"/>
              </a:rPr>
            </a:br>
            <a:br>
              <a:rPr lang="en-GB" sz="2400" b="0" dirty="0">
                <a:latin typeface="Calibri" panose="020F0502020204030204" pitchFamily="34" charset="0"/>
                <a:ea typeface="Calibri" panose="020F0502020204030204" pitchFamily="34" charset="0"/>
                <a:cs typeface="Calibri" panose="020F0502020204030204" pitchFamily="34" charset="0"/>
              </a:rPr>
            </a:br>
            <a:endParaRPr lang="en-US" sz="2400" b="0" dirty="0">
              <a:latin typeface="Calibri" panose="020F0502020204030204" pitchFamily="34" charset="0"/>
              <a:ea typeface="Calibri" panose="020F0502020204030204" pitchFamily="34" charset="0"/>
              <a:cs typeface="Calibri" panose="020F0502020204030204" pitchFamily="34" charset="0"/>
            </a:endParaRPr>
          </a:p>
          <a:p>
            <a:pPr marL="457200" indent="-457200">
              <a:lnSpc>
                <a:spcPct val="100000"/>
              </a:lnSpc>
              <a:spcBef>
                <a:spcPts val="0"/>
              </a:spcBef>
              <a:spcAft>
                <a:spcPts val="992"/>
              </a:spcAft>
              <a:buFont typeface="+mj-lt"/>
              <a:buAutoNum type="arabicPeriod"/>
            </a:pPr>
            <a:r>
              <a:rPr lang="en-GB" sz="2400" b="0" dirty="0">
                <a:latin typeface="Calibri" panose="020F0502020204030204" pitchFamily="34" charset="0"/>
                <a:ea typeface="Calibri" panose="020F0502020204030204" pitchFamily="34" charset="0"/>
                <a:cs typeface="Calibri" panose="020F0502020204030204" pitchFamily="34" charset="0"/>
              </a:rPr>
              <a:t>Tell us how many rows your dataset has 68028 rows and 16 columns.</a:t>
            </a:r>
            <a:endParaRPr lang="en-GB" sz="24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B2F9F271-4836-4ACF-85BE-52071D315F3F}"/>
              </a:ext>
            </a:extLst>
          </p:cNvPr>
          <p:cNvPicPr>
            <a:picLocks noChangeAspect="1"/>
          </p:cNvPicPr>
          <p:nvPr/>
        </p:nvPicPr>
        <p:blipFill rotWithShape="1">
          <a:blip r:embed="rId3"/>
          <a:srcRect t="5153" b="6541"/>
          <a:stretch/>
        </p:blipFill>
        <p:spPr>
          <a:xfrm>
            <a:off x="1434942" y="2571750"/>
            <a:ext cx="9322116" cy="1543050"/>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426481" y="1051202"/>
            <a:ext cx="10974944" cy="588024"/>
          </a:xfrm>
        </p:spPr>
        <p:txBody>
          <a:bodyPr vert="horz" lIns="0" tIns="0" rIns="0" bIns="0" rtlCol="0" anchor="t">
            <a:noAutofit/>
          </a:bodyPr>
          <a:lstStyle/>
          <a:p>
            <a:r>
              <a:rPr lang="en-US" sz="2400" dirty="0"/>
              <a:t>Dataset </a:t>
            </a:r>
            <a:r>
              <a:rPr lang="en-US" sz="2400" dirty="0">
                <a:solidFill>
                  <a:srgbClr val="203232"/>
                </a:solidFill>
              </a:rPr>
              <a:t>ID</a:t>
            </a:r>
            <a:r>
              <a:rPr lang="en-US" sz="1600" dirty="0">
                <a:solidFill>
                  <a:schemeClr val="tx1"/>
                </a:solidFill>
              </a:rPr>
              <a:t>: </a:t>
            </a:r>
            <a:r>
              <a:rPr lang="en-US" sz="2400" dirty="0">
                <a:solidFill>
                  <a:schemeClr val="tx1"/>
                </a:solidFill>
              </a:rPr>
              <a:t>DS048 and filename: 2006-2012-math-test-results-school-gender-1.csv </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426481" y="404099"/>
            <a:ext cx="10879694" cy="588024"/>
          </a:xfrm>
        </p:spPr>
        <p:txBody>
          <a:bodyPr/>
          <a:lstStyle/>
          <a:p>
            <a:r>
              <a:rPr lang="en-GB" dirty="0"/>
              <a:t>7COM1079-2025  Student Group No:A-196                    Names of Student Group Attendees: Gourav Kamble, </a:t>
            </a:r>
            <a:r>
              <a:rPr lang="en-GB" dirty="0" err="1"/>
              <a:t>Shirnidhi</a:t>
            </a:r>
            <a:r>
              <a:rPr lang="en-GB" dirty="0"/>
              <a:t> , Britto      George Fernandez, Kavya </a:t>
            </a:r>
            <a:r>
              <a:rPr lang="en-GB" dirty="0" err="1"/>
              <a:t>Belur</a:t>
            </a:r>
            <a:r>
              <a:rPr lang="en-GB" dirty="0"/>
              <a:t> Ramesh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dirty="0"/>
              <a:t>2</a:t>
            </a:r>
            <a:endParaRPr lang="en-GB" dirty="0"/>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426480" y="1698305"/>
            <a:ext cx="11513753" cy="3579548"/>
          </a:xfrm>
        </p:spPr>
        <p:txBody>
          <a:bodyPr>
            <a:noAutofit/>
          </a:bodyPr>
          <a:lstStyle/>
          <a:p>
            <a:pPr>
              <a:lnSpc>
                <a:spcPct val="100000"/>
              </a:lnSpc>
            </a:pPr>
            <a:r>
              <a:rPr lang="en-US" sz="2400" b="0" dirty="0">
                <a:latin typeface="Calibri"/>
                <a:cs typeface="Calibri"/>
              </a:rPr>
              <a:t>This dataset is interesting to us because it provides school test performance data by grade, gender, and year of New York which shows the student achievement.  </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From the column headings in your dataset choose ONE independent * and ONE dependent variable .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Demographic</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Nominal/categorial</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Mean Scale Score</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Interval/measurement data</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737937" y="1147638"/>
            <a:ext cx="9980977" cy="533868"/>
          </a:xfrm>
        </p:spPr>
        <p:txBody>
          <a:bodyPr/>
          <a:lstStyle/>
          <a:p>
            <a:pPr>
              <a:lnSpc>
                <a:spcPct val="100000"/>
              </a:lnSpc>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737937" y="819814"/>
            <a:ext cx="7176911" cy="230832"/>
          </a:xfrm>
        </p:spPr>
        <p:txBody>
          <a:bodyPr/>
          <a:lstStyle/>
          <a:p>
            <a:r>
              <a:rPr lang="en-GB" dirty="0"/>
              <a:t>PRE 7COM1079-2025  Student Group No:  Group A 196</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737938" y="1893914"/>
            <a:ext cx="11085094" cy="3403841"/>
          </a:xfrm>
        </p:spPr>
        <p:txBody>
          <a:bodyPr>
            <a:noAutofit/>
          </a:bodyPr>
          <a:lstStyle/>
          <a:p>
            <a:pPr>
              <a:lnSpc>
                <a:spcPct val="100000"/>
              </a:lnSpc>
            </a:pPr>
            <a:r>
              <a:rPr lang="en-IE" sz="2400" dirty="0">
                <a:effectLst/>
                <a:latin typeface="Calibri"/>
                <a:ea typeface="Calibri" panose="020F0502020204030204" pitchFamily="34" charset="0"/>
                <a:cs typeface="Times New Roman"/>
              </a:rPr>
              <a:t>Template</a:t>
            </a:r>
            <a:r>
              <a:rPr lang="en-IE" sz="2400" baseline="30000" dirty="0">
                <a:effectLst/>
                <a:latin typeface="Calibri"/>
                <a:ea typeface="Calibri" panose="020F0502020204030204" pitchFamily="34" charset="0"/>
                <a:cs typeface="Times New Roman"/>
              </a:rPr>
              <a:t>2</a:t>
            </a:r>
            <a:r>
              <a:rPr lang="en-IE" sz="2400" dirty="0">
                <a:effectLst/>
                <a:latin typeface="Calibri"/>
                <a:ea typeface="Calibri" panose="020F0502020204030204" pitchFamily="34" charset="0"/>
                <a:cs typeface="Times New Roman"/>
              </a:rPr>
              <a:t> : </a:t>
            </a:r>
            <a:r>
              <a:rPr lang="en-IE" sz="2400" b="0" dirty="0">
                <a:effectLst/>
                <a:latin typeface="Calibri"/>
                <a:ea typeface="Calibri" panose="020F0502020204030204" pitchFamily="34" charset="0"/>
                <a:cs typeface="Times New Roman"/>
              </a:rPr>
              <a:t>Interval vs Nominal</a:t>
            </a:r>
            <a:r>
              <a:rPr lang="en-IE" sz="2400" b="0" dirty="0">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data “is there a difference in the mean of  Mean Scale Score between Male and Female students”</a:t>
            </a: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r>
              <a:rPr lang="en-IE" sz="2400" b="0" dirty="0">
                <a:effectLst/>
                <a:latin typeface="Calibri"/>
                <a:ea typeface="Calibri" panose="020F0502020204030204" pitchFamily="34" charset="0"/>
                <a:cs typeface="Times New Roman"/>
              </a:rPr>
              <a:t>1. </a:t>
            </a:r>
            <a:r>
              <a:rPr lang="en-GB" sz="2400" b="0" dirty="0">
                <a:latin typeface="Arial"/>
                <a:cs typeface="Arial"/>
              </a:rPr>
              <a:t>Null hypothesis (H</a:t>
            </a:r>
            <a:r>
              <a:rPr lang="en-GB" sz="2400" b="0" baseline="-25000" dirty="0">
                <a:latin typeface="Arial"/>
                <a:cs typeface="Arial"/>
              </a:rPr>
              <a:t>0</a:t>
            </a:r>
            <a:r>
              <a:rPr lang="en-GB" sz="2400" b="0" dirty="0">
                <a:latin typeface="Arial"/>
                <a:cs typeface="Arial"/>
              </a:rPr>
              <a:t>): There is no difference in the mean of the </a:t>
            </a:r>
            <a:r>
              <a:rPr lang="en-IE" sz="2400" b="0" dirty="0">
                <a:effectLst/>
                <a:latin typeface="Calibri"/>
                <a:ea typeface="Calibri" panose="020F0502020204030204" pitchFamily="34" charset="0"/>
                <a:cs typeface="Times New Roman"/>
              </a:rPr>
              <a:t>Mean Scale Score between Male and Female students.</a:t>
            </a:r>
            <a:br>
              <a:rPr lang="en-IE" sz="2400" b="0" dirty="0">
                <a:effectLst/>
                <a:latin typeface="Calibri"/>
                <a:ea typeface="Calibri" panose="020F0502020204030204" pitchFamily="34" charset="0"/>
                <a:cs typeface="Times New Roman"/>
              </a:rPr>
            </a:br>
            <a:r>
              <a:rPr lang="en-IE" sz="2400" b="0" dirty="0">
                <a:effectLst/>
                <a:latin typeface="Calibri"/>
                <a:ea typeface="Calibri" panose="020F0502020204030204" pitchFamily="34" charset="0"/>
                <a:cs typeface="Times New Roman"/>
              </a:rPr>
              <a:t>2. </a:t>
            </a:r>
            <a:r>
              <a:rPr lang="en-GB" sz="2400" b="0" dirty="0">
                <a:latin typeface="Arial"/>
                <a:cs typeface="Arial"/>
              </a:rPr>
              <a:t>Alt hypothesis (H</a:t>
            </a:r>
            <a:r>
              <a:rPr lang="en-GB" sz="2400" b="0" baseline="-25000" dirty="0">
                <a:latin typeface="Arial"/>
                <a:cs typeface="Arial"/>
              </a:rPr>
              <a:t>1</a:t>
            </a:r>
            <a:r>
              <a:rPr lang="en-GB" sz="2400" b="0" dirty="0">
                <a:latin typeface="Arial"/>
                <a:cs typeface="Arial"/>
              </a:rPr>
              <a:t>): There is</a:t>
            </a:r>
            <a:r>
              <a:rPr lang="en-GB" sz="2400" dirty="0">
                <a:latin typeface="Arial"/>
                <a:cs typeface="Arial"/>
              </a:rPr>
              <a:t> </a:t>
            </a:r>
            <a:r>
              <a:rPr lang="en-GB" sz="2400" b="0" dirty="0">
                <a:latin typeface="Arial"/>
                <a:cs typeface="Arial"/>
              </a:rPr>
              <a:t>a</a:t>
            </a:r>
            <a:r>
              <a:rPr lang="en-GB" sz="2400" dirty="0">
                <a:latin typeface="Arial"/>
                <a:cs typeface="Arial"/>
              </a:rPr>
              <a:t> </a:t>
            </a:r>
            <a:r>
              <a:rPr lang="en-GB" sz="2400" b="0" dirty="0">
                <a:latin typeface="Arial"/>
                <a:cs typeface="Arial"/>
              </a:rPr>
              <a:t>difference in the mean of  the </a:t>
            </a:r>
            <a:r>
              <a:rPr lang="en-IE" sz="2400" b="0" dirty="0">
                <a:effectLst/>
                <a:latin typeface="Calibri"/>
                <a:ea typeface="Calibri" panose="020F0502020204030204" pitchFamily="34" charset="0"/>
                <a:cs typeface="Times New Roman"/>
              </a:rPr>
              <a:t>Mean Scale Score between Male and Female students.</a:t>
            </a: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r>
              <a:rPr lang="en-IE" sz="2400" b="0" dirty="0">
                <a:effectLst/>
                <a:latin typeface="Calibri"/>
                <a:ea typeface="Calibri" panose="020F0502020204030204" pitchFamily="34" charset="0"/>
                <a:cs typeface="Times New Roman"/>
              </a:rPr>
              <a:t>We </a:t>
            </a:r>
            <a:br>
              <a:rPr lang="en-IE" sz="2400" b="0" dirty="0">
                <a:effectLst/>
                <a:latin typeface="Calibri"/>
                <a:ea typeface="Calibri" panose="020F0502020204030204" pitchFamily="34" charset="0"/>
                <a:cs typeface="Times New Roman"/>
              </a:rPr>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269</TotalTime>
  <Words>496</Words>
  <Application>Microsoft Office PowerPoint</Application>
  <PresentationFormat>Widescreen</PresentationFormat>
  <Paragraphs>23</Paragraphs>
  <Slides>4</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Herts Theme</vt:lpstr>
      <vt:lpstr>Research Question –  Tutorial Presentation for Feedback Date:  </vt:lpstr>
      <vt:lpstr>In our research question we will use the Demographic and  Mean Scale Score columns. Sample Dataset       Tell us how many rows your dataset has 68028 rows and 16 columns.</vt:lpstr>
      <vt:lpstr>This dataset is interesting to us because it provides school test performance data by grade, gender, and year of New York which shows the student achievement.    From the column headings in your dataset choose ONE independent * and ONE dependent variable .  Our  Independent variable is:  Demographic                    This  Independent variable datatype is Nominal/categorial Our Dependent variable is: Mean Scale Score                    This Dependent variable datatype is  Interval/measurement data</vt:lpstr>
      <vt:lpstr>Template2 : Interval vs Nominal data “is there a difference in the mean of  Mean Scale Score between Male and Female students”  1. Null hypothesis (H0): There is no difference in the mean of the Mean Scale Score between Male and Female students. 2. Alt hypothesis (H1): There is a difference in the mean of  the Mean Scale Score between Male and Female students.  We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Bennet Antony Fernandez [Student-PECS]</cp:lastModifiedBy>
  <cp:revision>129</cp:revision>
  <dcterms:created xsi:type="dcterms:W3CDTF">2019-10-01T08:37:56Z</dcterms:created>
  <dcterms:modified xsi:type="dcterms:W3CDTF">2025-11-30T20:27:08Z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