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9"/>
  </p:notesMasterIdLst>
  <p:handoutMasterIdLst>
    <p:handoutMasterId r:id="rId10"/>
  </p:handoutMasterIdLst>
  <p:sldIdLst>
    <p:sldId id="289" r:id="rId5"/>
    <p:sldId id="340" r:id="rId6"/>
    <p:sldId id="329" r:id="rId7"/>
    <p:sldId id="336"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01/12/2025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01/12/2025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2</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err="1"/>
              <a:t>likert</a:t>
            </a:r>
            <a:r>
              <a:rPr lang="en-GB"/>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a:p>
          <a:p>
            <a:r>
              <a:rPr lang="en-GB"/>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66798494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1/12/2025</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a:xfrm>
            <a:off x="737419" y="1890000"/>
            <a:ext cx="11218607" cy="360000"/>
          </a:xfrm>
        </p:spPr>
        <p:txBody>
          <a:bodyPr/>
          <a:lstStyle/>
          <a:p>
            <a:r>
              <a:rPr lang="en-US" sz="2000" dirty="0"/>
              <a:t>Group Name: Group A 196                                               Name of Student Presenting: Gaurav Kamble</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333375" y="274320"/>
            <a:ext cx="11496675" cy="736245"/>
          </a:xfrm>
        </p:spPr>
        <p:txBody>
          <a:bodyPr/>
          <a:lstStyle/>
          <a:p>
            <a:pPr algn="r"/>
            <a:r>
              <a:rPr lang="en-GB" dirty="0"/>
              <a:t>7COM1079-2025  Student Group No:  Group A 196                  Names of Student Attendees : Gaurav Chandrakant Kamble, Shrinidhi Gowda Girish, Britto George Fernandez, Kavya </a:t>
            </a:r>
            <a:r>
              <a:rPr lang="en-GB" dirty="0" err="1"/>
              <a:t>Belur</a:t>
            </a:r>
            <a:r>
              <a:rPr lang="en-GB" dirty="0"/>
              <a:t> Ramesh</a:t>
            </a:r>
          </a:p>
        </p:txBody>
      </p:sp>
    </p:spTree>
    <p:extLst>
      <p:ext uri="{BB962C8B-B14F-4D97-AF65-F5344CB8AC3E}">
        <p14:creationId xmlns:p14="http://schemas.microsoft.com/office/powerpoint/2010/main" val="41485325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4884" y="1021855"/>
            <a:ext cx="9754031" cy="597396"/>
          </a:xfrm>
        </p:spPr>
        <p:txBody>
          <a:bodyPr vert="horz" lIns="0" tIns="0" rIns="0" bIns="0" rtlCol="0" anchor="t">
            <a:noAutofit/>
          </a:bodyPr>
          <a:lstStyle/>
          <a:p>
            <a:pPr>
              <a:lnSpc>
                <a:spcPct val="100000"/>
              </a:lnSpc>
              <a:spcAft>
                <a:spcPts val="0"/>
              </a:spcAft>
            </a:pPr>
            <a:r>
              <a:rPr lang="en-GB" dirty="0">
                <a:solidFill>
                  <a:srgbClr val="203232"/>
                </a:solidFill>
                <a:latin typeface="Calibri" panose="020F0502020204030204" pitchFamily="34" charset="0"/>
                <a:ea typeface="Calibri" panose="020F0502020204030204" pitchFamily="34" charset="0"/>
                <a:cs typeface="Calibri" panose="020F0502020204030204" pitchFamily="34" charset="0"/>
              </a:rPr>
              <a:t>Here is a sample of our dataset: </a:t>
            </a:r>
            <a:endParaRPr lang="en-GB" sz="1800" dirty="0">
              <a:solidFill>
                <a:srgbClr val="FF0000"/>
              </a:solidFill>
              <a:latin typeface="Calibri" panose="020F0502020204030204" pitchFamily="34" charset="0"/>
              <a:ea typeface="Calibri" panose="020F0502020204030204" pitchFamily="34" charset="0"/>
              <a:cs typeface="Calibri" panose="020F0502020204030204" pitchFamily="34" charset="0"/>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964884" y="791022"/>
            <a:ext cx="7176911" cy="230832"/>
          </a:xfrm>
        </p:spPr>
        <p:txBody>
          <a:bodyPr/>
          <a:lstStyle/>
          <a:p>
            <a:r>
              <a:rPr lang="en-GB" dirty="0"/>
              <a:t>PRE 7COM1079-2025  Student Group </a:t>
            </a:r>
            <a:r>
              <a:rPr lang="en-GB" dirty="0" err="1"/>
              <a:t>No:Group</a:t>
            </a:r>
            <a:r>
              <a:rPr lang="en-GB" dirty="0"/>
              <a:t> A 196</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964884" y="1619251"/>
            <a:ext cx="10505221" cy="3781424"/>
          </a:xfrm>
        </p:spPr>
        <p:txBody>
          <a:bodyPr>
            <a:normAutofit/>
          </a:bodyPr>
          <a:lstStyle/>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In our research question we will use the </a:t>
            </a:r>
            <a:r>
              <a:rPr lang="en-GB" sz="2400" b="0" dirty="0">
                <a:solidFill>
                  <a:srgbClr val="FF0000"/>
                </a:solidFill>
                <a:latin typeface="Calibri" panose="020F0502020204030204" pitchFamily="34" charset="0"/>
                <a:ea typeface="Calibri" panose="020F0502020204030204" pitchFamily="34" charset="0"/>
                <a:cs typeface="Calibri" panose="020F0502020204030204" pitchFamily="34" charset="0"/>
              </a:rPr>
              <a:t>Demographic </a:t>
            </a:r>
            <a:r>
              <a:rPr lang="en-GB" sz="2400" b="0" dirty="0">
                <a:latin typeface="Calibri" panose="020F0502020204030204" pitchFamily="34" charset="0"/>
                <a:ea typeface="Calibri" panose="020F0502020204030204" pitchFamily="34" charset="0"/>
                <a:cs typeface="Calibri" panose="020F0502020204030204" pitchFamily="34" charset="0"/>
              </a:rPr>
              <a:t>and  </a:t>
            </a:r>
            <a:r>
              <a:rPr lang="en-GB" sz="2400" b="0" dirty="0">
                <a:solidFill>
                  <a:srgbClr val="FF0000"/>
                </a:solidFill>
                <a:latin typeface="Calibri" panose="020F0502020204030204" pitchFamily="34" charset="0"/>
                <a:ea typeface="Calibri" panose="020F0502020204030204" pitchFamily="34" charset="0"/>
                <a:cs typeface="Calibri" panose="020F0502020204030204" pitchFamily="34" charset="0"/>
              </a:rPr>
              <a:t>Mean Scale Score </a:t>
            </a:r>
            <a:r>
              <a:rPr lang="en-GB" sz="2400" b="0" dirty="0">
                <a:latin typeface="Calibri" panose="020F0502020204030204" pitchFamily="34" charset="0"/>
                <a:ea typeface="Calibri" panose="020F0502020204030204" pitchFamily="34" charset="0"/>
                <a:cs typeface="Calibri" panose="020F0502020204030204" pitchFamily="34" charset="0"/>
              </a:rPr>
              <a:t>columns.</a:t>
            </a:r>
            <a:endParaRPr lang="en-US" sz="2400" b="0" dirty="0">
              <a:latin typeface="Calibri" panose="020F0502020204030204" pitchFamily="34" charset="0"/>
              <a:ea typeface="Calibri" panose="020F0502020204030204" pitchFamily="34" charset="0"/>
              <a:cs typeface="Calibri" panose="020F0502020204030204" pitchFamily="34" charset="0"/>
            </a:endParaRPr>
          </a:p>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Sample Dataset :</a:t>
            </a: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endParaRPr lang="en-US" sz="2400" b="0" dirty="0">
              <a:latin typeface="Calibri" panose="020F0502020204030204" pitchFamily="34" charset="0"/>
              <a:ea typeface="Calibri" panose="020F0502020204030204" pitchFamily="34" charset="0"/>
              <a:cs typeface="Calibri" panose="020F0502020204030204" pitchFamily="34" charset="0"/>
            </a:endParaRPr>
          </a:p>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Rows &amp; Columns dataset has : </a:t>
            </a:r>
            <a:r>
              <a:rPr lang="en-GB" sz="2400" b="0" dirty="0">
                <a:solidFill>
                  <a:srgbClr val="FF0000"/>
                </a:solidFill>
                <a:latin typeface="Calibri" panose="020F0502020204030204" pitchFamily="34" charset="0"/>
                <a:ea typeface="Calibri" panose="020F0502020204030204" pitchFamily="34" charset="0"/>
                <a:cs typeface="Calibri" panose="020F0502020204030204" pitchFamily="34" charset="0"/>
              </a:rPr>
              <a:t>68028 rows </a:t>
            </a:r>
            <a:r>
              <a:rPr lang="en-GB" sz="2400" b="0" dirty="0">
                <a:latin typeface="Calibri" panose="020F0502020204030204" pitchFamily="34" charset="0"/>
                <a:ea typeface="Calibri" panose="020F0502020204030204" pitchFamily="34" charset="0"/>
                <a:cs typeface="Calibri" panose="020F0502020204030204" pitchFamily="34" charset="0"/>
              </a:rPr>
              <a:t>and </a:t>
            </a:r>
            <a:r>
              <a:rPr lang="en-GB" sz="2400" b="0" dirty="0">
                <a:solidFill>
                  <a:srgbClr val="FF0000"/>
                </a:solidFill>
                <a:latin typeface="Calibri" panose="020F0502020204030204" pitchFamily="34" charset="0"/>
                <a:ea typeface="Calibri" panose="020F0502020204030204" pitchFamily="34" charset="0"/>
                <a:cs typeface="Calibri" panose="020F0502020204030204" pitchFamily="34" charset="0"/>
              </a:rPr>
              <a:t>16 columns</a:t>
            </a:r>
            <a:r>
              <a:rPr lang="en-GB" sz="2400" b="0" dirty="0">
                <a:latin typeface="Calibri" panose="020F0502020204030204" pitchFamily="34" charset="0"/>
                <a:ea typeface="Calibri" panose="020F0502020204030204" pitchFamily="34" charset="0"/>
                <a:cs typeface="Calibri" panose="020F0502020204030204" pitchFamily="34" charset="0"/>
              </a:rPr>
              <a:t>.</a:t>
            </a:r>
            <a:endParaRPr lang="en-GB" sz="2400" dirty="0">
              <a:latin typeface="Calibri" panose="020F0502020204030204" pitchFamily="34" charset="0"/>
              <a:ea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B2F9F271-4836-4ACF-85BE-52071D315F3F}"/>
              </a:ext>
            </a:extLst>
          </p:cNvPr>
          <p:cNvPicPr>
            <a:picLocks noChangeAspect="1"/>
          </p:cNvPicPr>
          <p:nvPr/>
        </p:nvPicPr>
        <p:blipFill rotWithShape="1">
          <a:blip r:embed="rId3"/>
          <a:srcRect t="5153" b="6541"/>
          <a:stretch/>
        </p:blipFill>
        <p:spPr>
          <a:xfrm>
            <a:off x="1434941" y="2571749"/>
            <a:ext cx="9678535" cy="1820497"/>
          </a:xfrm>
          <a:prstGeom prst="rect">
            <a:avLst/>
          </a:prstGeom>
        </p:spPr>
      </p:pic>
    </p:spTree>
    <p:extLst>
      <p:ext uri="{BB962C8B-B14F-4D97-AF65-F5344CB8AC3E}">
        <p14:creationId xmlns:p14="http://schemas.microsoft.com/office/powerpoint/2010/main" val="7130926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426481" y="1051202"/>
            <a:ext cx="10974944" cy="588024"/>
          </a:xfrm>
        </p:spPr>
        <p:txBody>
          <a:bodyPr vert="horz" lIns="0" tIns="0" rIns="0" bIns="0" rtlCol="0" anchor="t">
            <a:noAutofit/>
          </a:bodyPr>
          <a:lstStyle/>
          <a:p>
            <a:r>
              <a:rPr lang="en-US" sz="2400" dirty="0"/>
              <a:t>Dataset </a:t>
            </a:r>
            <a:r>
              <a:rPr lang="en-US" sz="2400" dirty="0">
                <a:solidFill>
                  <a:srgbClr val="203232"/>
                </a:solidFill>
              </a:rPr>
              <a:t>ID</a:t>
            </a:r>
            <a:r>
              <a:rPr lang="en-US" sz="1600" dirty="0">
                <a:solidFill>
                  <a:schemeClr val="tx1"/>
                </a:solidFill>
              </a:rPr>
              <a:t>:</a:t>
            </a:r>
            <a:r>
              <a:rPr lang="en-US" sz="1600" b="0" dirty="0">
                <a:solidFill>
                  <a:schemeClr val="tx1"/>
                </a:solidFill>
              </a:rPr>
              <a:t> </a:t>
            </a:r>
            <a:r>
              <a:rPr lang="en-US" sz="2400" b="0" dirty="0">
                <a:solidFill>
                  <a:srgbClr val="FF0000"/>
                </a:solidFill>
              </a:rPr>
              <a:t>DS048</a:t>
            </a:r>
            <a:r>
              <a:rPr lang="en-US" sz="2400" b="0" dirty="0">
                <a:solidFill>
                  <a:schemeClr val="tx1"/>
                </a:solidFill>
              </a:rPr>
              <a:t> </a:t>
            </a:r>
            <a:r>
              <a:rPr lang="en-US" sz="2400" dirty="0">
                <a:solidFill>
                  <a:schemeClr val="tx1"/>
                </a:solidFill>
              </a:rPr>
              <a:t>and filename: </a:t>
            </a:r>
            <a:r>
              <a:rPr lang="en-US" sz="2400" b="0" dirty="0">
                <a:solidFill>
                  <a:srgbClr val="FF0000"/>
                </a:solidFill>
              </a:rPr>
              <a:t>2006-2012-math-test-results-school-gender-1.csv </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426481" y="404099"/>
            <a:ext cx="10879694" cy="588024"/>
          </a:xfrm>
        </p:spPr>
        <p:txBody>
          <a:bodyPr/>
          <a:lstStyle/>
          <a:p>
            <a:pPr algn="r"/>
            <a:r>
              <a:rPr lang="en-GB" dirty="0"/>
              <a:t>7COM1079-2025  Student Group No:A-196                    Names of Student Group Attendees: Gourav Kamble, </a:t>
            </a:r>
            <a:r>
              <a:rPr lang="en-GB" dirty="0" err="1"/>
              <a:t>Shirnidhi</a:t>
            </a:r>
            <a:r>
              <a:rPr lang="en-GB" dirty="0"/>
              <a:t> Gowda , Britto Fernandez, Kavya Ramesh </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dirty="0"/>
              <a:t>2</a:t>
            </a:r>
            <a:endParaRPr lang="en-GB" dirty="0"/>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426480" y="1698305"/>
            <a:ext cx="11513753" cy="3579548"/>
          </a:xfrm>
        </p:spPr>
        <p:txBody>
          <a:bodyPr>
            <a:noAutofit/>
          </a:bodyPr>
          <a:lstStyle/>
          <a:p>
            <a:pPr>
              <a:lnSpc>
                <a:spcPct val="100000"/>
              </a:lnSpc>
            </a:pPr>
            <a:r>
              <a:rPr lang="en-US" sz="2400" b="0" dirty="0">
                <a:latin typeface="Calibri"/>
                <a:cs typeface="Calibri"/>
              </a:rPr>
              <a:t>This dataset is interesting to us because it provides school test performance data by grade, gender, and year of New York which shows the student achievement.  </a:t>
            </a:r>
            <a:br>
              <a:rPr lang="en-US" sz="2400" b="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i="1" dirty="0">
                <a:solidFill>
                  <a:schemeClr val="accent2">
                    <a:lumMod val="75000"/>
                  </a:schemeClr>
                </a:solidFill>
                <a:latin typeface="Calibri"/>
                <a:cs typeface="Calibri"/>
              </a:rPr>
              <a:t>From the column headings in your dataset choose ONE independent * and ONE dependent variable . </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Our  Independent variable is</a:t>
            </a:r>
            <a:r>
              <a:rPr lang="en-US" sz="2400" b="0" dirty="0">
                <a:latin typeface="Calibri"/>
                <a:cs typeface="Calibri"/>
              </a:rPr>
              <a:t>:  </a:t>
            </a:r>
            <a:r>
              <a:rPr lang="en-US" sz="2400" b="0" dirty="0">
                <a:solidFill>
                  <a:srgbClr val="FF0000"/>
                </a:solidFill>
                <a:latin typeface="Calibri"/>
                <a:cs typeface="Calibri"/>
              </a:rPr>
              <a:t>Demographic</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Independent variable datatype is </a:t>
            </a:r>
            <a:r>
              <a:rPr lang="en-US" sz="2400" b="0" dirty="0">
                <a:solidFill>
                  <a:srgbClr val="FF0000"/>
                </a:solidFill>
                <a:latin typeface="Calibri"/>
                <a:cs typeface="Calibri"/>
              </a:rPr>
              <a:t>Nominal</a:t>
            </a:r>
            <a:r>
              <a:rPr lang="en-US" sz="2400" b="0" dirty="0">
                <a:latin typeface="Calibri"/>
                <a:cs typeface="Calibri"/>
              </a:rPr>
              <a:t>/categorial</a:t>
            </a:r>
            <a:br>
              <a:rPr lang="en-US" sz="2400" b="0" dirty="0">
                <a:latin typeface="Calibri" panose="020F0502020204030204" pitchFamily="34" charset="0"/>
                <a:cs typeface="Calibri" panose="020F0502020204030204" pitchFamily="34" charset="0"/>
              </a:rPr>
            </a:br>
            <a:r>
              <a:rPr lang="en-US" sz="2400" dirty="0">
                <a:latin typeface="Calibri"/>
                <a:cs typeface="Calibri"/>
              </a:rPr>
              <a:t>Our Dependent variable is</a:t>
            </a:r>
            <a:r>
              <a:rPr lang="en-US" sz="2400" b="0" dirty="0">
                <a:latin typeface="Calibri"/>
                <a:cs typeface="Calibri"/>
              </a:rPr>
              <a:t>: </a:t>
            </a:r>
            <a:r>
              <a:rPr lang="en-US" sz="2400" b="0" dirty="0">
                <a:solidFill>
                  <a:srgbClr val="FF0000"/>
                </a:solidFill>
                <a:latin typeface="Calibri"/>
                <a:cs typeface="Calibri"/>
              </a:rPr>
              <a:t>Mean Scale Score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I</a:t>
            </a:r>
            <a:r>
              <a:rPr lang="en-US" sz="2400" b="0" dirty="0">
                <a:solidFill>
                  <a:srgbClr val="FF0000"/>
                </a:solidFill>
                <a:latin typeface="Calibri"/>
                <a:cs typeface="Calibri"/>
              </a:rPr>
              <a:t>nterval</a:t>
            </a:r>
            <a:r>
              <a:rPr lang="en-US" sz="2400" b="0" dirty="0">
                <a:latin typeface="Calibri"/>
                <a:cs typeface="Calibri"/>
              </a:rPr>
              <a:t>/measurement data</a:t>
            </a:r>
          </a:p>
        </p:txBody>
      </p:sp>
    </p:spTree>
    <p:extLst>
      <p:ext uri="{BB962C8B-B14F-4D97-AF65-F5344CB8AC3E}">
        <p14:creationId xmlns:p14="http://schemas.microsoft.com/office/powerpoint/2010/main" val="17180049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737937" y="1147638"/>
            <a:ext cx="9980977" cy="533868"/>
          </a:xfrm>
        </p:spPr>
        <p:txBody>
          <a:bodyPr/>
          <a:lstStyle/>
          <a:p>
            <a:pPr>
              <a:lnSpc>
                <a:spcPct val="100000"/>
              </a:lnSpc>
              <a:spcAft>
                <a:spcPts val="0"/>
              </a:spcAft>
            </a:pPr>
            <a:r>
              <a:rPr lang="en-GB" dirty="0"/>
              <a:t>Our Research Question is</a:t>
            </a:r>
            <a:endParaRPr lang="en-GB" sz="1800" dirty="0">
              <a:solidFill>
                <a:srgbClr val="FF0000"/>
              </a:solidFil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737937" y="819814"/>
            <a:ext cx="7176911" cy="230832"/>
          </a:xfrm>
        </p:spPr>
        <p:txBody>
          <a:bodyPr/>
          <a:lstStyle/>
          <a:p>
            <a:r>
              <a:rPr lang="en-GB" dirty="0"/>
              <a:t>PRE 7COM1079-2025  Student Group No:  Group A 196</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81007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737938" y="1893914"/>
            <a:ext cx="11085094" cy="3403841"/>
          </a:xfrm>
        </p:spPr>
        <p:txBody>
          <a:bodyPr>
            <a:noAutofit/>
          </a:bodyPr>
          <a:lstStyle/>
          <a:p>
            <a:pPr>
              <a:lnSpc>
                <a:spcPct val="100000"/>
              </a:lnSpc>
            </a:pPr>
            <a:r>
              <a:rPr lang="en-IE" sz="2400" dirty="0">
                <a:solidFill>
                  <a:srgbClr val="FF0000"/>
                </a:solidFill>
                <a:effectLst/>
                <a:latin typeface="Calibri"/>
                <a:ea typeface="Calibri" panose="020F0502020204030204" pitchFamily="34" charset="0"/>
                <a:cs typeface="Times New Roman"/>
              </a:rPr>
              <a:t>Template</a:t>
            </a:r>
            <a:r>
              <a:rPr lang="en-IE" sz="2400" baseline="30000" dirty="0">
                <a:solidFill>
                  <a:srgbClr val="FF0000"/>
                </a:solidFill>
                <a:effectLst/>
                <a:latin typeface="Calibri"/>
                <a:ea typeface="Calibri" panose="020F0502020204030204" pitchFamily="34" charset="0"/>
                <a:cs typeface="Times New Roman"/>
              </a:rPr>
              <a:t>2</a:t>
            </a:r>
            <a:r>
              <a:rPr lang="en-IE" sz="2400" dirty="0">
                <a:solidFill>
                  <a:srgbClr val="FF0000"/>
                </a:solidFill>
                <a:effectLst/>
                <a:latin typeface="Calibri"/>
                <a:ea typeface="Calibri" panose="020F0502020204030204" pitchFamily="34" charset="0"/>
                <a:cs typeface="Times New Roman"/>
              </a:rPr>
              <a:t> </a:t>
            </a:r>
            <a:r>
              <a:rPr lang="en-IE" sz="2400" dirty="0">
                <a:effectLst/>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Interval vs Nominal</a:t>
            </a:r>
            <a:r>
              <a:rPr lang="en-IE" sz="2400" b="0" dirty="0">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data “is there a difference in the mean of  Mean Scale Score between Male and Female students”</a:t>
            </a:r>
            <a:br>
              <a:rPr lang="en-IE" sz="2400" b="0" dirty="0">
                <a:effectLst/>
                <a:latin typeface="Calibri"/>
                <a:ea typeface="Calibri" panose="020F0502020204030204" pitchFamily="34" charset="0"/>
                <a:cs typeface="Times New Roman"/>
              </a:rPr>
            </a:br>
            <a:r>
              <a:rPr lang="en-US" sz="2400" b="0" dirty="0">
                <a:solidFill>
                  <a:srgbClr val="FF0000"/>
                </a:solidFill>
                <a:latin typeface="Calibri"/>
                <a:ea typeface="Calibri" panose="020F0502020204030204" pitchFamily="34" charset="0"/>
                <a:cs typeface="Times New Roman"/>
              </a:rPr>
              <a:t>Comparison of </a:t>
            </a:r>
            <a:r>
              <a:rPr lang="en-US" sz="2400" b="0" dirty="0" err="1">
                <a:solidFill>
                  <a:srgbClr val="FF0000"/>
                </a:solidFill>
                <a:latin typeface="Calibri"/>
                <a:ea typeface="Calibri" panose="020F0502020204030204" pitchFamily="34" charset="0"/>
                <a:cs typeface="Times New Roman"/>
              </a:rPr>
              <a:t>Means:</a:t>
            </a:r>
            <a:r>
              <a:rPr lang="en-US" sz="2400" b="0" dirty="0" err="1">
                <a:latin typeface="Calibri"/>
                <a:ea typeface="Calibri" panose="020F0502020204030204" pitchFamily="34" charset="0"/>
                <a:cs typeface="Times New Roman"/>
              </a:rPr>
              <a:t>This</a:t>
            </a:r>
            <a:r>
              <a:rPr lang="en-US" sz="2400" b="0" dirty="0">
                <a:latin typeface="Calibri"/>
                <a:ea typeface="Calibri" panose="020F0502020204030204" pitchFamily="34" charset="0"/>
                <a:cs typeface="Times New Roman"/>
              </a:rPr>
              <a:t> analysis examines whether the mean math score is significantly different between two demographic </a:t>
            </a:r>
            <a:r>
              <a:rPr lang="en-US" sz="2400" b="0" dirty="0" err="1">
                <a:latin typeface="Calibri"/>
                <a:ea typeface="Calibri" panose="020F0502020204030204" pitchFamily="34" charset="0"/>
                <a:cs typeface="Times New Roman"/>
              </a:rPr>
              <a:t>groups.It</a:t>
            </a:r>
            <a:r>
              <a:rPr lang="en-US" sz="2400" b="0" dirty="0">
                <a:latin typeface="Calibri"/>
                <a:ea typeface="Calibri" panose="020F0502020204030204" pitchFamily="34" charset="0"/>
                <a:cs typeface="Times New Roman"/>
              </a:rPr>
              <a:t> helps identify whether gender plays a role in student math performance.</a:t>
            </a:r>
            <a:br>
              <a:rPr lang="en-IE" sz="2400" b="0" dirty="0">
                <a:effectLst/>
                <a:latin typeface="Calibri"/>
                <a:ea typeface="Calibri" panose="020F0502020204030204" pitchFamily="34" charset="0"/>
                <a:cs typeface="Times New Roman"/>
              </a:rPr>
            </a:br>
            <a:r>
              <a:rPr lang="en-IE" sz="2400" b="0" dirty="0">
                <a:effectLst/>
                <a:latin typeface="Calibri"/>
                <a:ea typeface="Calibri" panose="020F0502020204030204" pitchFamily="34" charset="0"/>
                <a:cs typeface="Times New Roman"/>
              </a:rPr>
              <a:t>1. </a:t>
            </a:r>
            <a:r>
              <a:rPr lang="en-GB" sz="2400" b="0" dirty="0">
                <a:solidFill>
                  <a:srgbClr val="FF0000"/>
                </a:solidFill>
                <a:latin typeface="Arial"/>
                <a:cs typeface="Arial"/>
              </a:rPr>
              <a:t>Null hypothesis (H</a:t>
            </a:r>
            <a:r>
              <a:rPr lang="en-GB" sz="2400" b="0" baseline="-25000" dirty="0">
                <a:solidFill>
                  <a:srgbClr val="FF0000"/>
                </a:solidFill>
                <a:latin typeface="Arial"/>
                <a:cs typeface="Arial"/>
              </a:rPr>
              <a:t>0</a:t>
            </a:r>
            <a:r>
              <a:rPr lang="en-GB" sz="2400" b="0" dirty="0">
                <a:solidFill>
                  <a:srgbClr val="FF0000"/>
                </a:solidFill>
                <a:latin typeface="Arial"/>
                <a:cs typeface="Arial"/>
              </a:rPr>
              <a:t>): </a:t>
            </a:r>
            <a:r>
              <a:rPr lang="en-GB" sz="2400" b="0" dirty="0">
                <a:latin typeface="Arial"/>
                <a:cs typeface="Arial"/>
              </a:rPr>
              <a:t>There is no difference in the mean of the </a:t>
            </a:r>
            <a:r>
              <a:rPr lang="en-IE" sz="2400" b="0" dirty="0">
                <a:effectLst/>
                <a:latin typeface="Calibri"/>
                <a:ea typeface="Calibri" panose="020F0502020204030204" pitchFamily="34" charset="0"/>
                <a:cs typeface="Times New Roman"/>
              </a:rPr>
              <a:t>Mean Scale Score between Male and Female students.</a:t>
            </a:r>
            <a:br>
              <a:rPr lang="en-IE" sz="2400" b="0" dirty="0">
                <a:effectLst/>
                <a:latin typeface="Calibri"/>
                <a:ea typeface="Calibri" panose="020F0502020204030204" pitchFamily="34" charset="0"/>
                <a:cs typeface="Times New Roman"/>
              </a:rPr>
            </a:br>
            <a:r>
              <a:rPr lang="en-IE" sz="2400" b="0" dirty="0">
                <a:effectLst/>
                <a:latin typeface="Calibri"/>
                <a:ea typeface="Calibri" panose="020F0502020204030204" pitchFamily="34" charset="0"/>
                <a:cs typeface="Times New Roman"/>
              </a:rPr>
              <a:t>2. </a:t>
            </a:r>
            <a:r>
              <a:rPr lang="en-GB" sz="2400" b="0" dirty="0">
                <a:solidFill>
                  <a:srgbClr val="FF0000"/>
                </a:solidFill>
                <a:latin typeface="Arial"/>
                <a:cs typeface="Arial"/>
              </a:rPr>
              <a:t>Alt hypothesis (H</a:t>
            </a:r>
            <a:r>
              <a:rPr lang="en-GB" sz="2400" b="0" baseline="-25000" dirty="0">
                <a:solidFill>
                  <a:srgbClr val="FF0000"/>
                </a:solidFill>
                <a:latin typeface="Arial"/>
                <a:cs typeface="Arial"/>
              </a:rPr>
              <a:t>1</a:t>
            </a:r>
            <a:r>
              <a:rPr lang="en-GB" sz="2400" b="0" dirty="0">
                <a:solidFill>
                  <a:srgbClr val="FF0000"/>
                </a:solidFill>
                <a:latin typeface="Arial"/>
                <a:cs typeface="Arial"/>
              </a:rPr>
              <a:t>): </a:t>
            </a:r>
            <a:r>
              <a:rPr lang="en-GB" sz="2400" b="0" dirty="0">
                <a:latin typeface="Arial"/>
                <a:cs typeface="Arial"/>
              </a:rPr>
              <a:t>There is</a:t>
            </a:r>
            <a:r>
              <a:rPr lang="en-GB" sz="2400" dirty="0">
                <a:latin typeface="Arial"/>
                <a:cs typeface="Arial"/>
              </a:rPr>
              <a:t> </a:t>
            </a:r>
            <a:r>
              <a:rPr lang="en-GB" sz="2400" b="0" dirty="0">
                <a:latin typeface="Arial"/>
                <a:cs typeface="Arial"/>
              </a:rPr>
              <a:t>a</a:t>
            </a:r>
            <a:r>
              <a:rPr lang="en-GB" sz="2400" dirty="0">
                <a:latin typeface="Arial"/>
                <a:cs typeface="Arial"/>
              </a:rPr>
              <a:t> </a:t>
            </a:r>
            <a:r>
              <a:rPr lang="en-GB" sz="2400" b="0" dirty="0">
                <a:latin typeface="Arial"/>
                <a:cs typeface="Arial"/>
              </a:rPr>
              <a:t>difference in the mean of  the </a:t>
            </a:r>
            <a:r>
              <a:rPr lang="en-IE" sz="2400" b="0" dirty="0">
                <a:effectLst/>
                <a:latin typeface="Calibri"/>
                <a:ea typeface="Calibri" panose="020F0502020204030204" pitchFamily="34" charset="0"/>
                <a:cs typeface="Times New Roman"/>
              </a:rPr>
              <a:t>Mean Scale Score between Male and Female students.</a:t>
            </a:r>
            <a:br>
              <a:rPr lang="en-IE" sz="2400" b="0" dirty="0">
                <a:effectLst/>
                <a:latin typeface="Calibri"/>
                <a:ea typeface="Calibri" panose="020F0502020204030204" pitchFamily="34" charset="0"/>
                <a:cs typeface="Times New Roman"/>
              </a:rPr>
            </a:br>
            <a:r>
              <a:rPr lang="en-IE" sz="2400" b="0" dirty="0">
                <a:solidFill>
                  <a:srgbClr val="FF0000"/>
                </a:solidFill>
                <a:effectLst/>
                <a:latin typeface="Calibri"/>
                <a:ea typeface="Calibri" panose="020F0502020204030204" pitchFamily="34" charset="0"/>
                <a:cs typeface="Times New Roman"/>
              </a:rPr>
              <a:t>We  reject the null hypothesis (p = 4.22x10 </a:t>
            </a:r>
            <a:r>
              <a:rPr lang="en-IE" sz="2400" b="0" baseline="30000" dirty="0">
                <a:solidFill>
                  <a:srgbClr val="FF0000"/>
                </a:solidFill>
                <a:effectLst/>
                <a:latin typeface="Calibri"/>
                <a:ea typeface="Calibri" panose="020F0502020204030204" pitchFamily="34" charset="0"/>
                <a:cs typeface="Times New Roman"/>
              </a:rPr>
              <a:t>-42 </a:t>
            </a:r>
            <a:r>
              <a:rPr lang="en-IE" sz="2400" b="0" dirty="0">
                <a:solidFill>
                  <a:srgbClr val="FF0000"/>
                </a:solidFill>
                <a:effectLst/>
                <a:latin typeface="Calibri"/>
                <a:ea typeface="Calibri" panose="020F0502020204030204" pitchFamily="34" charset="0"/>
                <a:cs typeface="Times New Roman"/>
              </a:rPr>
              <a:t>) , confirming a significant difference by gender.</a:t>
            </a:r>
            <a:r>
              <a:rPr kumimoji="0" lang="en-GB" sz="1800" b="0" i="1" u="none" strike="noStrike" kern="1200" cap="none" spc="0" normalizeH="0" baseline="0" noProof="0" dirty="0">
                <a:ln>
                  <a:noFill/>
                </a:ln>
                <a:solidFill>
                  <a:srgbClr val="FF0000"/>
                </a:solidFill>
                <a:effectLst/>
                <a:uLnTx/>
                <a:uFillTx/>
                <a:latin typeface="Arial" panose="020B0604020202020204"/>
                <a:ea typeface="+mn-ea"/>
                <a:cs typeface="+mn-cs"/>
              </a:rPr>
              <a:t> [p-value = &lt; 0.05] </a:t>
            </a: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Tree>
    <p:extLst>
      <p:ext uri="{BB962C8B-B14F-4D97-AF65-F5344CB8AC3E}">
        <p14:creationId xmlns:p14="http://schemas.microsoft.com/office/powerpoint/2010/main" val="32494612"/>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91C521DD-2673-4EE6-BB9B-DC5C3320FFB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347</TotalTime>
  <Words>578</Words>
  <Application>Microsoft Office PowerPoint</Application>
  <PresentationFormat>Widescreen</PresentationFormat>
  <Paragraphs>23</Paragraphs>
  <Slides>4</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Herts Theme</vt:lpstr>
      <vt:lpstr>Research Question –  Tutorial Presentation for Feedback Date: 1/12/2025 </vt:lpstr>
      <vt:lpstr>In our research question we will use the Demographic and  Mean Scale Score columns. Sample Dataset :      Rows &amp; Columns dataset has : 68028 rows and 16 columns.</vt:lpstr>
      <vt:lpstr>This dataset is interesting to us because it provides school test performance data by grade, gender, and year of New York which shows the student achievement.    From the column headings in your dataset choose ONE independent * and ONE dependent variable .  Our  Independent variable is:  Demographic                    This  Independent variable datatype is Nominal/categorial Our Dependent variable is: Mean Scale Score                    This Dependent variable datatype is  Interval/measurement data</vt:lpstr>
      <vt:lpstr>Template2 : Interval vs Nominal data “is there a difference in the mean of  Mean Scale Score between Male and Female students” Comparison of Means:This analysis examines whether the mean math score is significantly different between two demographic groups.It helps identify whether gender plays a role in student math performance. 1. Null hypothesis (H0): There is no difference in the mean of the Mean Scale Score between Male and Female students. 2. Alt hypothesis (H1): There is a difference in the mean of  the Mean Scale Score between Male and Female students. We  reject the null hypothesis (p = 4.22x10 -42 ) , confirming a significant difference by gender. [p-value = &lt; 0.05]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Gaurav Kamble [Student-PECS]</cp:lastModifiedBy>
  <cp:revision>140</cp:revision>
  <dcterms:created xsi:type="dcterms:W3CDTF">2019-10-01T08:37:56Z</dcterms:created>
  <dcterms:modified xsi:type="dcterms:W3CDTF">2025-11-30T23:49:41Z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