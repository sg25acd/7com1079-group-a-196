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
  </p:notesMasterIdLst>
  <p:handoutMasterIdLst>
    <p:handoutMasterId r:id="rId10"/>
  </p:handoutMasterIdLst>
  <p:sldIdLst>
    <p:sldId id="289" r:id="rId5"/>
    <p:sldId id="340" r:id="rId6"/>
    <p:sldId id="329" r:id="rId7"/>
    <p:sldId id="33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B1EB13-4B4A-3A65-7705-B39B10420BC6}" v="11" dt="2025-11-07T13:21:13.889"/>
    <p1510:client id="{94404E7A-4EB2-D0DE-A758-3B2FEF7E6025}" v="1178" dt="2025-11-07T14:31:40.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58"/>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10/12/2025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10/12/2025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 1/12/2025</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a:xfrm>
            <a:off x="737419" y="1890000"/>
            <a:ext cx="11218607" cy="360000"/>
          </a:xfrm>
        </p:spPr>
        <p:txBody>
          <a:bodyPr/>
          <a:lstStyle/>
          <a:p>
            <a:r>
              <a:rPr lang="en-US" sz="2000" dirty="0"/>
              <a:t>Group Name: Group A 196                                               Name of Student Presenting: Gaurav Kamble</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333375" y="274320"/>
            <a:ext cx="11496675" cy="736245"/>
          </a:xfrm>
        </p:spPr>
        <p:txBody>
          <a:bodyPr/>
          <a:lstStyle/>
          <a:p>
            <a:pPr algn="r"/>
            <a:r>
              <a:rPr lang="en-GB" dirty="0"/>
              <a:t>7COM1079-2025  Student Group No:  Group A 196                  Names of Student Attendees : Gaurav Chandrakant Kamble, Shrinidhi Gowda Girish, Britto George Fernandez, Kavya </a:t>
            </a:r>
            <a:r>
              <a:rPr lang="en-GB" dirty="0" err="1"/>
              <a:t>Belur</a:t>
            </a:r>
            <a:r>
              <a:rPr lang="en-GB" dirty="0"/>
              <a:t> Ramesh</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4884" y="1021855"/>
            <a:ext cx="9754031" cy="597396"/>
          </a:xfrm>
        </p:spPr>
        <p:txBody>
          <a:bodyPr vert="horz" lIns="0" tIns="0" rIns="0" bIns="0" rtlCol="0" anchor="t">
            <a:noAutofit/>
          </a:bodyPr>
          <a:lstStyle/>
          <a:p>
            <a:pPr>
              <a:lnSpc>
                <a:spcPct val="100000"/>
              </a:lnSpc>
              <a:spcAft>
                <a:spcPts val="0"/>
              </a:spcAft>
            </a:pPr>
            <a:r>
              <a:rPr lang="en-GB" dirty="0">
                <a:solidFill>
                  <a:srgbClr val="203232"/>
                </a:solidFill>
                <a:latin typeface="Calibri" panose="020F0502020204030204" pitchFamily="34" charset="0"/>
                <a:ea typeface="Calibri" panose="020F0502020204030204" pitchFamily="34" charset="0"/>
                <a:cs typeface="Calibri" panose="020F0502020204030204" pitchFamily="34" charset="0"/>
              </a:rPr>
              <a:t>Here is a sample of our dataset: </a:t>
            </a:r>
            <a:endParaRPr lang="en-GB" sz="1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a:xfrm>
            <a:off x="964884" y="791022"/>
            <a:ext cx="7176911" cy="230832"/>
          </a:xfrm>
        </p:spPr>
        <p:txBody>
          <a:bodyPr/>
          <a:lstStyle/>
          <a:p>
            <a:r>
              <a:rPr lang="en-GB" dirty="0"/>
              <a:t>PRE 7COM1079-2025  Student Group </a:t>
            </a:r>
            <a:r>
              <a:rPr lang="en-GB" dirty="0" err="1"/>
              <a:t>No:Group</a:t>
            </a:r>
            <a:r>
              <a:rPr lang="en-GB" dirty="0"/>
              <a:t> A 196</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964884" y="1619251"/>
            <a:ext cx="10505221" cy="3781424"/>
          </a:xfrm>
        </p:spPr>
        <p:txBody>
          <a:bodyPr>
            <a:normAutofit/>
          </a:bodyPr>
          <a:lstStyle/>
          <a:p>
            <a:pPr marL="457200" indent="-457200">
              <a:lnSpc>
                <a:spcPct val="100000"/>
              </a:lnSpc>
              <a:spcBef>
                <a:spcPts val="0"/>
              </a:spcBef>
              <a:spcAft>
                <a:spcPts val="992"/>
              </a:spcAft>
              <a:buFont typeface="+mj-lt"/>
              <a:buAutoNum type="arabicPeriod"/>
            </a:pPr>
            <a:r>
              <a:rPr lang="en-GB" sz="2400" b="0" dirty="0">
                <a:latin typeface="Calibri" panose="020F0502020204030204" pitchFamily="34" charset="0"/>
                <a:ea typeface="Calibri" panose="020F0502020204030204" pitchFamily="34" charset="0"/>
                <a:cs typeface="Calibri" panose="020F0502020204030204" pitchFamily="34" charset="0"/>
              </a:rPr>
              <a:t>In our research question we will use the Demographic and  </a:t>
            </a:r>
            <a:r>
              <a:rPr lang="en-GB" sz="2400" b="0" dirty="0" err="1">
                <a:latin typeface="Calibri" panose="020F0502020204030204" pitchFamily="34" charset="0"/>
                <a:ea typeface="Calibri" panose="020F0502020204030204" pitchFamily="34" charset="0"/>
                <a:cs typeface="Calibri" panose="020F0502020204030204" pitchFamily="34" charset="0"/>
              </a:rPr>
              <a:t>Averagescore</a:t>
            </a:r>
            <a:r>
              <a:rPr lang="en-GB" sz="2400" b="0" dirty="0">
                <a:latin typeface="Calibri" panose="020F0502020204030204" pitchFamily="34" charset="0"/>
                <a:ea typeface="Calibri" panose="020F0502020204030204" pitchFamily="34" charset="0"/>
                <a:cs typeface="Calibri" panose="020F0502020204030204" pitchFamily="34" charset="0"/>
              </a:rPr>
              <a:t> columns.</a:t>
            </a:r>
            <a:endParaRPr lang="en-US" sz="2400" b="0" dirty="0">
              <a:latin typeface="Calibri" panose="020F0502020204030204" pitchFamily="34" charset="0"/>
              <a:ea typeface="Calibri" panose="020F0502020204030204" pitchFamily="34" charset="0"/>
              <a:cs typeface="Calibri" panose="020F0502020204030204" pitchFamily="34" charset="0"/>
            </a:endParaRPr>
          </a:p>
          <a:p>
            <a:pPr marL="457200" indent="-457200">
              <a:lnSpc>
                <a:spcPct val="100000"/>
              </a:lnSpc>
              <a:spcBef>
                <a:spcPts val="0"/>
              </a:spcBef>
              <a:spcAft>
                <a:spcPts val="992"/>
              </a:spcAft>
              <a:buFont typeface="+mj-lt"/>
              <a:buAutoNum type="arabicPeriod"/>
            </a:pPr>
            <a:r>
              <a:rPr lang="en-GB" sz="2400" b="0" dirty="0">
                <a:latin typeface="Calibri" panose="020F0502020204030204" pitchFamily="34" charset="0"/>
                <a:ea typeface="Calibri" panose="020F0502020204030204" pitchFamily="34" charset="0"/>
                <a:cs typeface="Calibri" panose="020F0502020204030204" pitchFamily="34" charset="0"/>
              </a:rPr>
              <a:t>Sample Dataset :</a:t>
            </a:r>
            <a:br>
              <a:rPr lang="en-GB" sz="2400" b="0" dirty="0">
                <a:latin typeface="Calibri" panose="020F0502020204030204" pitchFamily="34" charset="0"/>
                <a:ea typeface="Calibri" panose="020F0502020204030204" pitchFamily="34" charset="0"/>
                <a:cs typeface="Calibri" panose="020F0502020204030204" pitchFamily="34" charset="0"/>
              </a:rPr>
            </a:br>
            <a:br>
              <a:rPr lang="en-GB" sz="2400" b="0" dirty="0">
                <a:latin typeface="Calibri" panose="020F0502020204030204" pitchFamily="34" charset="0"/>
                <a:ea typeface="Calibri" panose="020F0502020204030204" pitchFamily="34" charset="0"/>
                <a:cs typeface="Calibri" panose="020F0502020204030204" pitchFamily="34" charset="0"/>
              </a:rPr>
            </a:br>
            <a:br>
              <a:rPr lang="en-GB" sz="2400" b="0" dirty="0">
                <a:latin typeface="Calibri" panose="020F0502020204030204" pitchFamily="34" charset="0"/>
                <a:ea typeface="Calibri" panose="020F0502020204030204" pitchFamily="34" charset="0"/>
                <a:cs typeface="Calibri" panose="020F0502020204030204" pitchFamily="34" charset="0"/>
              </a:rPr>
            </a:br>
            <a:br>
              <a:rPr lang="en-GB" sz="2400" b="0" dirty="0">
                <a:latin typeface="Calibri" panose="020F0502020204030204" pitchFamily="34" charset="0"/>
                <a:ea typeface="Calibri" panose="020F0502020204030204" pitchFamily="34" charset="0"/>
                <a:cs typeface="Calibri" panose="020F0502020204030204" pitchFamily="34" charset="0"/>
              </a:rPr>
            </a:br>
            <a:br>
              <a:rPr lang="en-GB" sz="2400" b="0" dirty="0">
                <a:latin typeface="Calibri" panose="020F0502020204030204" pitchFamily="34" charset="0"/>
                <a:ea typeface="Calibri" panose="020F0502020204030204" pitchFamily="34" charset="0"/>
                <a:cs typeface="Calibri" panose="020F0502020204030204" pitchFamily="34" charset="0"/>
              </a:rPr>
            </a:br>
            <a:endParaRPr lang="en-US" sz="2400" b="0" dirty="0">
              <a:latin typeface="Calibri" panose="020F0502020204030204" pitchFamily="34" charset="0"/>
              <a:ea typeface="Calibri" panose="020F0502020204030204" pitchFamily="34" charset="0"/>
              <a:cs typeface="Calibri" panose="020F0502020204030204" pitchFamily="34" charset="0"/>
            </a:endParaRPr>
          </a:p>
          <a:p>
            <a:pPr marL="457200" indent="-457200">
              <a:lnSpc>
                <a:spcPct val="100000"/>
              </a:lnSpc>
              <a:spcBef>
                <a:spcPts val="0"/>
              </a:spcBef>
              <a:spcAft>
                <a:spcPts val="992"/>
              </a:spcAft>
              <a:buFont typeface="+mj-lt"/>
              <a:buAutoNum type="arabicPeriod"/>
            </a:pPr>
            <a:r>
              <a:rPr lang="en-GB" sz="2400" b="0" dirty="0">
                <a:latin typeface="Calibri" panose="020F0502020204030204" pitchFamily="34" charset="0"/>
                <a:ea typeface="Calibri" panose="020F0502020204030204" pitchFamily="34" charset="0"/>
                <a:cs typeface="Calibri" panose="020F0502020204030204" pitchFamily="34" charset="0"/>
              </a:rPr>
              <a:t>Rows &amp; Columns dataset has : 68028 rows and 16 columns.</a:t>
            </a:r>
            <a:endParaRPr lang="en-GB" sz="2400" dirty="0">
              <a:latin typeface="Calibri" panose="020F0502020204030204" pitchFamily="34" charset="0"/>
              <a:ea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B2F9F271-4836-4ACF-85BE-52071D315F3F}"/>
              </a:ext>
            </a:extLst>
          </p:cNvPr>
          <p:cNvPicPr>
            <a:picLocks noChangeAspect="1"/>
          </p:cNvPicPr>
          <p:nvPr/>
        </p:nvPicPr>
        <p:blipFill rotWithShape="1">
          <a:blip r:embed="rId3"/>
          <a:srcRect t="5153" b="6541"/>
          <a:stretch/>
        </p:blipFill>
        <p:spPr>
          <a:xfrm>
            <a:off x="1434941" y="2571749"/>
            <a:ext cx="9678535" cy="1820497"/>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426481" y="1051202"/>
            <a:ext cx="10974944" cy="588024"/>
          </a:xfrm>
        </p:spPr>
        <p:txBody>
          <a:bodyPr vert="horz" lIns="0" tIns="0" rIns="0" bIns="0" rtlCol="0" anchor="t">
            <a:noAutofit/>
          </a:bodyPr>
          <a:lstStyle/>
          <a:p>
            <a:r>
              <a:rPr lang="en-US" sz="2400" b="0" dirty="0">
                <a:solidFill>
                  <a:schemeClr val="tx1"/>
                </a:solidFill>
              </a:rPr>
              <a:t>Dataset ID</a:t>
            </a:r>
            <a:r>
              <a:rPr lang="en-US" sz="1600" b="0" dirty="0">
                <a:solidFill>
                  <a:schemeClr val="tx1"/>
                </a:solidFill>
              </a:rPr>
              <a:t>: </a:t>
            </a:r>
            <a:r>
              <a:rPr lang="en-US" sz="2400" b="0" dirty="0">
                <a:solidFill>
                  <a:schemeClr val="tx1"/>
                </a:solidFill>
              </a:rPr>
              <a:t>DS048 and filename : 2006-2012-math-test-results-school-gender-1.csv </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426481" y="404099"/>
            <a:ext cx="10879694" cy="588024"/>
          </a:xfrm>
        </p:spPr>
        <p:txBody>
          <a:bodyPr/>
          <a:lstStyle/>
          <a:p>
            <a:pPr algn="r"/>
            <a:r>
              <a:rPr lang="en-GB" dirty="0"/>
              <a:t>7COM1079-2025  Student Group No:A-196                    Names of Student Group Attendees: Gourav Kamble, </a:t>
            </a:r>
            <a:r>
              <a:rPr lang="en-GB" dirty="0" err="1"/>
              <a:t>Shrinidhi</a:t>
            </a:r>
            <a:r>
              <a:rPr lang="en-GB" dirty="0"/>
              <a:t> Gowda , Britto Fernandez, Kavya Ramesh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dirty="0"/>
              <a:t>2</a:t>
            </a:r>
            <a:endParaRPr lang="en-GB" dirty="0"/>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426481" y="1698305"/>
            <a:ext cx="11150832" cy="3579548"/>
          </a:xfrm>
        </p:spPr>
        <p:txBody>
          <a:bodyPr>
            <a:noAutofit/>
          </a:bodyPr>
          <a:lstStyle/>
          <a:p>
            <a:pPr>
              <a:lnSpc>
                <a:spcPct val="100000"/>
              </a:lnSpc>
            </a:pPr>
            <a:r>
              <a:rPr lang="en-US" sz="2400" b="0" dirty="0">
                <a:latin typeface="Calibri"/>
                <a:cs typeface="Calibri"/>
              </a:rPr>
              <a:t>This dataset is interesting to us because it provides school test performance data by grade, gender, and year of New York which shows the student achievement.  </a:t>
            </a:r>
            <a:br>
              <a:rPr lang="en-US" sz="2400" b="0" dirty="0">
                <a:latin typeface="Calibri"/>
                <a:cs typeface="Calibri"/>
              </a:rPr>
            </a:br>
            <a:r>
              <a:rPr lang="en-US" sz="2400" b="0" dirty="0">
                <a:latin typeface="Calibri"/>
                <a:cs typeface="Calibri"/>
              </a:rPr>
              <a:t>Dataset is from Data world</a:t>
            </a:r>
            <a:br>
              <a:rPr lang="en-US" sz="2400" b="0" dirty="0">
                <a:latin typeface="Calibri" panose="020F0502020204030204" pitchFamily="34" charset="0"/>
                <a:cs typeface="Calibri" panose="020F0502020204030204" pitchFamily="34" charset="0"/>
              </a:rPr>
            </a:br>
            <a:br>
              <a:rPr lang="en-US" sz="2400" b="0" dirty="0">
                <a:latin typeface="Calibri" panose="020F0502020204030204" pitchFamily="34" charset="0"/>
                <a:cs typeface="Calibri" panose="020F0502020204030204" pitchFamily="34" charset="0"/>
              </a:rPr>
            </a:br>
            <a:r>
              <a:rPr lang="en-US" sz="2400" b="0" i="1" dirty="0">
                <a:solidFill>
                  <a:schemeClr val="accent2">
                    <a:lumMod val="75000"/>
                  </a:schemeClr>
                </a:solidFill>
                <a:latin typeface="Calibri"/>
                <a:cs typeface="Calibri"/>
              </a:rPr>
              <a:t>From the column headings in your dataset choose ONE independent * and ONE dependent variable . </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 Demographic</a:t>
            </a:r>
            <a:br>
              <a:rPr lang="en-US" sz="2400" b="0" dirty="0">
                <a:latin typeface="Calibri" panose="020F0502020204030204" pitchFamily="34" charset="0"/>
                <a:cs typeface="Calibri" panose="020F0502020204030204" pitchFamily="34" charset="0"/>
              </a:rPr>
            </a:br>
            <a:r>
              <a:rPr lang="en-US" sz="2400" b="0" dirty="0">
                <a:latin typeface="Calibri"/>
                <a:cs typeface="Calibri"/>
              </a:rPr>
              <a:t>                   This  Independent variable datatype is Nominal/categorial</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Dependent variable is :  </a:t>
            </a:r>
            <a:r>
              <a:rPr lang="en-US" sz="2400" b="0" dirty="0" err="1">
                <a:latin typeface="Calibri"/>
                <a:cs typeface="Calibri"/>
              </a:rPr>
              <a:t>Averagescore</a:t>
            </a:r>
            <a:br>
              <a:rPr lang="en-US" sz="2400" b="0" dirty="0">
                <a:latin typeface="Calibri" panose="020F0502020204030204" pitchFamily="34" charset="0"/>
                <a:cs typeface="Calibri" panose="020F0502020204030204" pitchFamily="34" charset="0"/>
              </a:rPr>
            </a:br>
            <a:r>
              <a:rPr lang="en-US" sz="2400" b="0" dirty="0">
                <a:latin typeface="Calibri"/>
                <a:cs typeface="Calibri"/>
              </a:rPr>
              <a:t>                   This Dependent variable datatype is  Interval/measurement data</a:t>
            </a: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737937" y="810072"/>
            <a:ext cx="9980977" cy="533868"/>
          </a:xfrm>
        </p:spPr>
        <p:txBody>
          <a:bodyPr/>
          <a:lstStyle/>
          <a:p>
            <a:pPr>
              <a:lnSpc>
                <a:spcPct val="100000"/>
              </a:lnSpc>
              <a:spcAft>
                <a:spcPts val="0"/>
              </a:spcAft>
            </a:pPr>
            <a:r>
              <a:rPr lang="en-GB" dirty="0"/>
              <a:t>Our Research Question is</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a:xfrm>
            <a:off x="737937" y="456602"/>
            <a:ext cx="7176911" cy="230832"/>
          </a:xfrm>
        </p:spPr>
        <p:txBody>
          <a:bodyPr/>
          <a:lstStyle/>
          <a:p>
            <a:r>
              <a:rPr lang="en-GB" dirty="0"/>
              <a:t>PRE 7COM1079-2025  Student Group No:  Group A 196</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81007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737937" y="1343940"/>
            <a:ext cx="11245516" cy="4014123"/>
          </a:xfrm>
        </p:spPr>
        <p:txBody>
          <a:bodyPr>
            <a:noAutofit/>
          </a:bodyPr>
          <a:lstStyle/>
          <a:p>
            <a:pPr>
              <a:lnSpc>
                <a:spcPct val="100000"/>
              </a:lnSpc>
            </a:pPr>
            <a:r>
              <a:rPr lang="en-IE" sz="2400" dirty="0">
                <a:effectLst/>
                <a:latin typeface="Calibri"/>
                <a:ea typeface="Calibri" panose="020F0502020204030204" pitchFamily="34" charset="0"/>
                <a:cs typeface="Times New Roman"/>
              </a:rPr>
              <a:t>Template</a:t>
            </a:r>
            <a:r>
              <a:rPr lang="en-IE" sz="2400" baseline="30000" dirty="0">
                <a:effectLst/>
                <a:latin typeface="Calibri"/>
                <a:ea typeface="Calibri" panose="020F0502020204030204" pitchFamily="34" charset="0"/>
                <a:cs typeface="Times New Roman"/>
              </a:rPr>
              <a:t>2 </a:t>
            </a:r>
            <a:r>
              <a:rPr lang="en-IE" sz="2400" dirty="0">
                <a:effectLst/>
                <a:latin typeface="Calibri"/>
                <a:ea typeface="Calibri" panose="020F0502020204030204" pitchFamily="34" charset="0"/>
                <a:cs typeface="Times New Roman"/>
              </a:rPr>
              <a:t>: </a:t>
            </a:r>
            <a:r>
              <a:rPr lang="en-IE" sz="2400" b="0" dirty="0">
                <a:effectLst/>
                <a:latin typeface="Calibri"/>
                <a:ea typeface="Calibri" panose="020F0502020204030204" pitchFamily="34" charset="0"/>
                <a:cs typeface="Times New Roman"/>
              </a:rPr>
              <a:t>Interval vs Nominal</a:t>
            </a:r>
            <a:r>
              <a:rPr lang="en-IE" sz="2400" b="0" dirty="0">
                <a:latin typeface="Calibri"/>
                <a:ea typeface="Calibri" panose="020F0502020204030204" pitchFamily="34" charset="0"/>
                <a:cs typeface="Times New Roman"/>
              </a:rPr>
              <a:t> </a:t>
            </a:r>
            <a:r>
              <a:rPr lang="en-IE" sz="2400" b="0" dirty="0">
                <a:effectLst/>
                <a:latin typeface="Calibri"/>
                <a:ea typeface="Calibri" panose="020F0502020204030204" pitchFamily="34" charset="0"/>
                <a:cs typeface="Times New Roman"/>
              </a:rPr>
              <a:t>data “</a:t>
            </a:r>
            <a:r>
              <a:rPr lang="en-US" sz="2400" b="0" dirty="0">
                <a:effectLst/>
                <a:latin typeface="Calibri"/>
                <a:ea typeface="Calibri" panose="020F0502020204030204" pitchFamily="34" charset="0"/>
                <a:cs typeface="Times New Roman"/>
              </a:rPr>
              <a:t>is there a difference in the mean of average score among the different demographic groups for students in Grades 3–8 in New York City from 2006 to 2012?”</a:t>
            </a:r>
            <a:br>
              <a:rPr lang="en-US" sz="2400" b="0" dirty="0">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r>
              <a:rPr lang="en-IE" sz="2400" b="0" dirty="0">
                <a:effectLst/>
                <a:latin typeface="Calibri"/>
                <a:ea typeface="Calibri" panose="020F0502020204030204" pitchFamily="34" charset="0"/>
                <a:cs typeface="Times New Roman"/>
              </a:rPr>
              <a:t>1. </a:t>
            </a:r>
            <a:r>
              <a:rPr lang="en-GB" sz="2400" b="0" dirty="0">
                <a:latin typeface="Arial"/>
                <a:cs typeface="Arial"/>
              </a:rPr>
              <a:t>Null hypothesis (H</a:t>
            </a:r>
            <a:r>
              <a:rPr lang="en-GB" sz="2400" b="0" baseline="-25000" dirty="0">
                <a:latin typeface="Arial"/>
                <a:cs typeface="Arial"/>
              </a:rPr>
              <a:t>0</a:t>
            </a:r>
            <a:r>
              <a:rPr lang="en-GB" sz="2400" b="0" dirty="0">
                <a:latin typeface="Arial"/>
                <a:cs typeface="Arial"/>
              </a:rPr>
              <a:t>): There is no difference in the mean of  </a:t>
            </a:r>
            <a:r>
              <a:rPr lang="en-IE" sz="2400" b="0" dirty="0" err="1">
                <a:latin typeface="Calibri"/>
                <a:ea typeface="Calibri" panose="020F0502020204030204" pitchFamily="34" charset="0"/>
                <a:cs typeface="Times New Roman"/>
              </a:rPr>
              <a:t>Aversges</a:t>
            </a:r>
            <a:r>
              <a:rPr lang="en-IE" sz="2400" b="0" dirty="0" err="1">
                <a:effectLst/>
                <a:latin typeface="Calibri"/>
                <a:ea typeface="Calibri" panose="020F0502020204030204" pitchFamily="34" charset="0"/>
                <a:cs typeface="Times New Roman"/>
              </a:rPr>
              <a:t>core</a:t>
            </a:r>
            <a:r>
              <a:rPr lang="en-IE" sz="2400" b="0" dirty="0">
                <a:effectLst/>
                <a:latin typeface="Calibri"/>
                <a:ea typeface="Calibri" panose="020F0502020204030204" pitchFamily="34" charset="0"/>
                <a:cs typeface="Times New Roman"/>
              </a:rPr>
              <a:t> between Male and Female students in Grades 3-8 in New York City (2006-2012).</a:t>
            </a:r>
            <a:br>
              <a:rPr lang="en-IE" sz="2400" b="0" dirty="0">
                <a:effectLst/>
                <a:latin typeface="Calibri"/>
                <a:ea typeface="Calibri" panose="020F0502020204030204" pitchFamily="34" charset="0"/>
                <a:cs typeface="Times New Roman"/>
              </a:rPr>
            </a:br>
            <a:r>
              <a:rPr lang="en-IE" sz="2400" b="0" dirty="0">
                <a:effectLst/>
                <a:latin typeface="Calibri"/>
                <a:ea typeface="Calibri" panose="020F0502020204030204" pitchFamily="34" charset="0"/>
                <a:cs typeface="Times New Roman"/>
              </a:rPr>
              <a:t>2. </a:t>
            </a:r>
            <a:r>
              <a:rPr lang="en-GB" sz="2400" b="0" dirty="0">
                <a:latin typeface="Arial"/>
                <a:cs typeface="Arial"/>
              </a:rPr>
              <a:t>Alt hypothesis (H</a:t>
            </a:r>
            <a:r>
              <a:rPr lang="en-GB" sz="2400" b="0" baseline="-25000" dirty="0">
                <a:latin typeface="Arial"/>
                <a:cs typeface="Arial"/>
              </a:rPr>
              <a:t>1</a:t>
            </a:r>
            <a:r>
              <a:rPr lang="en-GB" sz="2400" b="0" dirty="0">
                <a:latin typeface="Arial"/>
                <a:cs typeface="Arial"/>
              </a:rPr>
              <a:t>): There is</a:t>
            </a:r>
            <a:r>
              <a:rPr lang="en-GB" sz="2400" dirty="0">
                <a:latin typeface="Arial"/>
                <a:cs typeface="Arial"/>
              </a:rPr>
              <a:t> </a:t>
            </a:r>
            <a:r>
              <a:rPr lang="en-GB" sz="2400" b="0" dirty="0">
                <a:latin typeface="Arial"/>
                <a:cs typeface="Arial"/>
              </a:rPr>
              <a:t>a</a:t>
            </a:r>
            <a:r>
              <a:rPr lang="en-GB" sz="2400" dirty="0">
                <a:latin typeface="Arial"/>
                <a:cs typeface="Arial"/>
              </a:rPr>
              <a:t> </a:t>
            </a:r>
            <a:r>
              <a:rPr lang="en-GB" sz="2400" b="0" dirty="0">
                <a:latin typeface="Arial"/>
                <a:cs typeface="Arial"/>
              </a:rPr>
              <a:t>difference in the mean of  </a:t>
            </a:r>
            <a:r>
              <a:rPr lang="en-GB" sz="2400" b="0" dirty="0" err="1">
                <a:latin typeface="Arial"/>
                <a:cs typeface="Arial"/>
              </a:rPr>
              <a:t>Averagescore</a:t>
            </a:r>
            <a:r>
              <a:rPr lang="en-GB" sz="2400" b="0" dirty="0">
                <a:latin typeface="Arial"/>
                <a:cs typeface="Arial"/>
              </a:rPr>
              <a:t> </a:t>
            </a:r>
            <a:r>
              <a:rPr lang="en-IE" sz="2400" b="0" dirty="0">
                <a:effectLst/>
                <a:latin typeface="Calibri"/>
                <a:ea typeface="Calibri" panose="020F0502020204030204" pitchFamily="34" charset="0"/>
                <a:cs typeface="Times New Roman"/>
              </a:rPr>
              <a:t>between Male and Female students in Grades 3-8 in New York City (2006-2012).</a:t>
            </a:r>
            <a:br>
              <a:rPr lang="en-IE" sz="2400" b="0" dirty="0">
                <a:effectLst/>
                <a:latin typeface="Calibri"/>
                <a:ea typeface="Calibri" panose="020F0502020204030204" pitchFamily="34" charset="0"/>
                <a:cs typeface="Times New Roman"/>
              </a:rPr>
            </a:br>
            <a:br>
              <a:rPr lang="en-IE" sz="2400" b="0" dirty="0">
                <a:latin typeface="Calibri"/>
                <a:ea typeface="Calibri" panose="020F0502020204030204" pitchFamily="34" charset="0"/>
                <a:cs typeface="Times New Roman"/>
              </a:rPr>
            </a:br>
            <a:r>
              <a:rPr lang="en-IE" sz="2400" b="0" dirty="0">
                <a:latin typeface="Calibri"/>
                <a:ea typeface="Calibri" panose="020F0502020204030204" pitchFamily="34" charset="0"/>
                <a:cs typeface="Times New Roman"/>
              </a:rPr>
              <a:t>We reject the  null hypothesis, as the  p-value is </a:t>
            </a:r>
            <a:r>
              <a:rPr lang="en-IN" sz="800" b="0" i="0" dirty="0">
                <a:solidFill>
                  <a:srgbClr val="F9FAFB"/>
                </a:solidFill>
                <a:effectLst/>
                <a:latin typeface="quote-cjk-patch"/>
              </a:rPr>
              <a:t>²</a:t>
            </a:r>
            <a:r>
              <a:rPr lang="en-IE" sz="2400" b="0" dirty="0">
                <a:latin typeface="Calibri"/>
                <a:ea typeface="Calibri" panose="020F0502020204030204" pitchFamily="34" charset="0"/>
                <a:cs typeface="Times New Roman"/>
              </a:rPr>
              <a:t> </a:t>
            </a:r>
            <a:r>
              <a:rPr lang="en-IN" sz="2400" b="0" dirty="0">
                <a:latin typeface="Calibri" panose="020F0502020204030204" pitchFamily="34" charset="0"/>
                <a:ea typeface="Calibri" panose="020F0502020204030204" pitchFamily="34" charset="0"/>
                <a:cs typeface="Calibri" panose="020F0502020204030204" pitchFamily="34" charset="0"/>
              </a:rPr>
              <a:t>4.216 × 10⁻⁴²</a:t>
            </a:r>
            <a:r>
              <a:rPr lang="en-IE" sz="2400" b="0" dirty="0">
                <a:latin typeface="Calibri" panose="020F0502020204030204" pitchFamily="34" charset="0"/>
                <a:ea typeface="Calibri" panose="020F0502020204030204" pitchFamily="34" charset="0"/>
                <a:cs typeface="Calibri" panose="020F0502020204030204" pitchFamily="34" charset="0"/>
              </a:rPr>
              <a:t> </a:t>
            </a:r>
            <a:r>
              <a:rPr lang="en-IE" sz="2400" b="0" dirty="0">
                <a:latin typeface="Calibri"/>
                <a:ea typeface="Calibri" panose="020F0502020204030204" pitchFamily="34" charset="0"/>
                <a:cs typeface="Times New Roman"/>
              </a:rPr>
              <a:t>, which is extremely low and indicates a statistically significant result</a:t>
            </a: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32494612"/>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554</TotalTime>
  <Words>573</Words>
  <Application>Microsoft Office PowerPoint</Application>
  <PresentationFormat>Widescreen</PresentationFormat>
  <Paragraphs>23</Paragraphs>
  <Slides>4</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quote-cjk-patch</vt:lpstr>
      <vt:lpstr>Herts Theme</vt:lpstr>
      <vt:lpstr>Research Question –  Tutorial Presentation for Feedback Date: 1/12/2025 </vt:lpstr>
      <vt:lpstr>In our research question we will use the Demographic and  Averagescore columns. Sample Dataset :      Rows &amp; Columns dataset has : 68028 rows and 16 columns.</vt:lpstr>
      <vt:lpstr>This dataset is interesting to us because it provides school test performance data by grade, gender, and year of New York which shows the student achievement.   Dataset is from Data world  From the column headings in your dataset choose ONE independent * and ONE dependent variable .  Our  Independent variable is : Demographic                    This  Independent variable datatype is Nominal/categorial Our Dependent variable is :  Averagescore                    This Dependent variable datatype is  Interval/measurement data</vt:lpstr>
      <vt:lpstr>Template2 : Interval vs Nominal data “is there a difference in the mean of average score among the different demographic groups for students in Grades 3–8 in New York City from 2006 to 2012?”  1. Null hypothesis (H0): There is no difference in the mean of  Aversgescore between Male and Female students in Grades 3-8 in New York City (2006-2012). 2. Alt hypothesis (H1): There is a difference in the mean of  Averagescore between Male and Female students in Grades 3-8 in New York City (2006-2012).  We reject the  null hypothesis, as the  p-value is ² 4.216 × 10⁻⁴² , which is extremely low and indicates a statistically significant result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brittofernandez88@gmail.com</cp:lastModifiedBy>
  <cp:revision>149</cp:revision>
  <dcterms:created xsi:type="dcterms:W3CDTF">2019-10-01T08:37:56Z</dcterms:created>
  <dcterms:modified xsi:type="dcterms:W3CDTF">2025-12-10T06:22:33Z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